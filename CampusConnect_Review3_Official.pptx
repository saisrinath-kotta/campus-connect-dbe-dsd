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33400"/>
            <a:ext cx="10160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PBL PROJECT REVIEW – 3  ·  DBE &amp; DSD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9800"/>
            <a:ext cx="10922000" cy="825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2761"/>
                </a:solidFill>
                <a:latin typeface="Cambria"/>
              </a:defRPr>
            </a:pPr>
            <a:r>
              <a:t>CampusConnect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300" y="1803400"/>
            <a:ext cx="10922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28090"/>
                </a:solidFill>
                <a:latin typeface="Calibri"/>
              </a:defRPr>
            </a:pPr>
            <a:r>
              <a:t>One Platform for Every Student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300" y="2260600"/>
            <a:ext cx="109220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4273A"/>
                </a:solidFill>
                <a:latin typeface="Calibri"/>
              </a:defRPr>
            </a:pPr>
            <a:r>
              <a:t>Methodology  •  Implementation  •  Testing  • 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21000"/>
            <a:ext cx="6350000" cy="1879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921000"/>
            <a:ext cx="57150" cy="1879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73400"/>
            <a:ext cx="584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03600"/>
            <a:ext cx="5842000" cy="1206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4273A"/>
                </a:solidFill>
                <a:latin typeface="Calibri"/>
              </a:defRPr>
            </a:pPr>
            <a:r>
              <a:t>• Keerthana S                 • Keerthana V</a:t>
            </a:r>
          </a:p>
          <a:p>
            <a:pPr>
              <a:defRPr sz="1350" b="1">
                <a:solidFill>
                  <a:srgbClr val="24273A"/>
                </a:solidFill>
                <a:latin typeface="Calibri"/>
              </a:defRPr>
            </a:pPr>
            <a:r>
              <a:t>• K. Sai Srinath               • Anvith Kumar</a:t>
            </a:r>
          </a:p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7400" y="2921000"/>
            <a:ext cx="4505960" cy="1879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7400" y="2921000"/>
            <a:ext cx="57150" cy="1879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6000" y="3073400"/>
            <a:ext cx="4064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CORE 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0" y="3403600"/>
            <a:ext cx="4064000" cy="1206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273A"/>
                </a:solidFill>
                <a:latin typeface="Calibri"/>
              </a:defRPr>
            </a:pPr>
            <a:r>
              <a:t>React.js  ·  FastAPI  ·  PostgreSQL</a:t>
            </a:r>
          </a:p>
          <a:p>
            <a:pPr>
              <a:defRPr sz="1150" b="1">
                <a:solidFill>
                  <a:srgbClr val="028090"/>
                </a:solidFill>
                <a:latin typeface="Calibri"/>
              </a:defRPr>
            </a:pPr>
            <a:r>
              <a:t>AI-assisted Lost &amp; Found Image Matching</a:t>
            </a:r>
          </a:p>
          <a:p>
            <a:pPr>
              <a:defRPr sz="1050">
                <a:solidFill>
                  <a:srgbClr val="646978"/>
                </a:solidFill>
                <a:latin typeface="Calibri"/>
              </a:defRPr>
            </a:pPr>
            <a:r>
              <a:t>Modular REST Architecture with RBAC &amp; Relational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29200"/>
            <a:ext cx="11049000" cy="10414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30800"/>
            <a:ext cx="10604500" cy="838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PBL REVIEW – 3 PRESENTATION OBJECTIVES</a:t>
            </a:r>
          </a:p>
          <a:p>
            <a:pPr>
              <a:defRPr sz="1050">
                <a:solidFill>
                  <a:srgbClr val="24273A"/>
                </a:solidFill>
                <a:latin typeface="Calibri"/>
              </a:defRPr>
            </a:pPr>
            <a:r>
              <a:t>This presentation demonstrates the proposed methodology, synthetic data preparation, relational system architecture, FastAPI request lifecycle, modular backend implementation, rigorous test verification matrix (TC-01 to TC-10), and deployment strategy for CampusConnect.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TITLE &amp; 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A: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01 · 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Analyzing campus fragmentation, information silos, and the necessity for a unified digital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3302000" cy="497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4978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200" y="1422400"/>
            <a:ext cx="29845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778000"/>
            <a:ext cx="29845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273A"/>
                </a:solidFill>
                <a:latin typeface="Calibri"/>
              </a:defRPr>
            </a:pPr>
            <a:r>
              <a:t>Campus activities and student services are currently distributed across fragmented, disconnected platforms.</a:t>
            </a:r>
          </a:p>
          <a:p>
            <a:br/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Students require separate, ad-hoc channels for essential everyday tasks: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Club Activities: Social media &amp; flyers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Event Registrations: External Google Forms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Lost &amp; Found: Notice boards &amp; WhatsApp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Used Marketplace: Informal peer chats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Grievances: Unmonitored physical desks</a:t>
            </a:r>
          </a:p>
          <a:p>
            <a:pPr>
              <a:defRPr sz="950">
                <a:solidFill>
                  <a:srgbClr val="646978"/>
                </a:solidFill>
                <a:latin typeface="Calibri"/>
              </a:defRPr>
            </a:pPr>
            <a:r>
              <a:t>• Announcements: Scattered broadcast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1270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761"/>
                </a:solidFill>
                <a:latin typeface="Calibri"/>
              </a:defRPr>
            </a:pPr>
            <a:r>
              <a:t>5 CORE CAMPUS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0" y="1600200"/>
            <a:ext cx="4064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5600" y="170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1676400"/>
            <a:ext cx="34798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Fragmented Services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Different services are accessed through disconnected platforms without unified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0" y="2540000"/>
            <a:ext cx="4064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5600" y="26416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2616200"/>
            <a:ext cx="34798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Poor Discoverability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Students miss critical event deadlines and announcements amidst noisy group chats.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8600" y="3479800"/>
            <a:ext cx="4064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5600" y="35814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3556000"/>
            <a:ext cx="34798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Manual Lost &amp; Found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Recovery relies on vague text descriptions, lacking visual search and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38600" y="4419600"/>
            <a:ext cx="4064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5600" y="45212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800" y="4495800"/>
            <a:ext cx="34798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Disconnected Workflows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Grievances and requests lack automated status tracking and coordinator escalation.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8600" y="5359400"/>
            <a:ext cx="4064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5600" y="54610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5435600"/>
            <a:ext cx="34798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Limited Centralization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No single institutional platform with authenticated roles and central data persistence.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100" y="1270000"/>
            <a:ext cx="3350260" cy="497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93100" y="1270000"/>
            <a:ext cx="57150" cy="4978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422400"/>
            <a:ext cx="3048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Calibri"/>
              </a:defRPr>
            </a:pPr>
            <a:r>
              <a:t>PROPOSED NEED &amp;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778000"/>
            <a:ext cx="30480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273A"/>
                </a:solidFill>
                <a:latin typeface="Calibri"/>
              </a:defRPr>
            </a:pPr>
            <a:r>
              <a:t>Create one centralized platform connecting all student-facing campus services through a common backend and database.</a:t>
            </a:r>
          </a:p>
          <a:p>
            <a:br/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✔ Single Point of Access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One authenticated login for events, clubs, grievances, items, and notices.</a:t>
            </a:r>
          </a:p>
          <a:p>
            <a:br/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✔ Relational Integrity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PostgreSQL database enforcing 3NF relations and ACID transaction safety.</a:t>
            </a:r>
          </a:p>
          <a:p>
            <a:br/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✔ Role-Based Security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JWT authentication with distinct Student, Club Lead, and Admin permissions.</a:t>
            </a:r>
          </a:p>
          <a:p>
            <a:br/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✔ Intelligent Lost &amp; Found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AI visual similarity matching replacing pure manual keyword guesswork.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A: PROPOSED METHODOLOGY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A: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02 · DATA COLLECTION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Data ingestion domains, self-generated synthetic campus datasets, and end-to-end preprocessing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5397500" cy="497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4978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1397000"/>
            <a:ext cx="50165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DATA COLLECTION SPECIFICATIONS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600" y="1727200"/>
            <a:ext cx="5016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803400"/>
            <a:ext cx="47625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User &amp; Campus Domain</a:t>
            </a:r>
          </a:p>
          <a:p>
            <a:pPr>
              <a:defRPr sz="900">
                <a:solidFill>
                  <a:srgbClr val="24273A"/>
                </a:solidFill>
                <a:latin typeface="Calibri"/>
              </a:defRPr>
            </a:pPr>
            <a:r>
              <a:t>Student profiles, roll numbers, department, semester, role flags (Student, Coordinator, Admin), club entities, event descriptions, and broadcast announcements.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" y="2717800"/>
            <a:ext cx="5016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2794000"/>
            <a:ext cx="47625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Transaction &amp; Workflow Data</a:t>
            </a:r>
          </a:p>
          <a:p>
            <a:pPr>
              <a:defRPr sz="900">
                <a:solidFill>
                  <a:srgbClr val="24273A"/>
                </a:solidFill>
                <a:latin typeface="Calibri"/>
              </a:defRPr>
            </a:pPr>
            <a:r>
              <a:t>Timestamped event registrations, RSVP capacities, marketplace item listings, condition ratings, grievance submissions, department routing, and status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600" y="3708400"/>
            <a:ext cx="5016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3784600"/>
            <a:ext cx="47625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6A34A"/>
                </a:solidFill>
                <a:latin typeface="Calibri"/>
              </a:defRPr>
            </a:pPr>
            <a:r>
              <a:t>AI Lost &amp; Found Domain</a:t>
            </a:r>
          </a:p>
          <a:p>
            <a:pPr>
              <a:defRPr sz="900">
                <a:solidFill>
                  <a:srgbClr val="24273A"/>
                </a:solidFill>
                <a:latin typeface="Calibri"/>
              </a:defRPr>
            </a:pPr>
            <a:r>
              <a:t>Image uploads of lost and found campus objects (keys, IDs, bottles, electronics), categorized locations, discovery timestamps, and normalized tags.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600" y="4775200"/>
            <a:ext cx="5016500" cy="12700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4851400"/>
            <a:ext cx="4762500" cy="111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DATA SOURCE: SYNTHETIC CAMPUS DATASET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Self-generated realistic synthetic campus dataset modeled on institutional workflows.</a:t>
            </a:r>
            <a:br/>
            <a:r>
              <a:t>• Avoids external unverified scraping while guaranteeing realistic schema testing.</a:t>
            </a:r>
            <a:br/>
            <a:r>
              <a:t>• Strict adherence to relational constraints, foreign keys, and referential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6640" y="1270000"/>
            <a:ext cx="5506720" cy="497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6640" y="1270000"/>
            <a:ext cx="57150" cy="4978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600" y="1397000"/>
            <a:ext cx="51435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DATA PREPROCESSING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1727200"/>
            <a:ext cx="5143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A. Tabular &amp; Transaction Data Preprocessing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6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Raw Input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API Payload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1590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55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9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Validation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Pydantic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7500" y="21590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64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18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Cleaning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Trim &amp; Strip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400" y="21590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73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27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Null Check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Default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21590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82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36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Norm.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Types &amp; FKs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0200" y="21590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79100" y="19812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4500" y="20320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Staged DB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ACID Commit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600" y="2794000"/>
            <a:ext cx="5143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B. AI Lost &amp; Found Image Preprocessing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46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Image Upload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JPEG / PNG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2258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55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09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Format Check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MIME &amp;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7500" y="32258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64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18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Resize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224 × 224 px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8400" y="32258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773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027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Preprocess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RGB Normalize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9300" y="32258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282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536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Feature Ext.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Vector Repr.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0200" y="3225800"/>
            <a:ext cx="88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79100" y="3048000"/>
            <a:ext cx="762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04500" y="3098800"/>
            <a:ext cx="7112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Matching</a:t>
            </a:r>
          </a:p>
          <a:p>
            <a:pPr algn="ctr">
              <a:defRPr sz="700">
                <a:solidFill>
                  <a:srgbClr val="646978"/>
                </a:solidFill>
                <a:latin typeface="Calibri"/>
              </a:defRPr>
            </a:pPr>
            <a:r>
              <a:t>Rank Output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4600" y="3860800"/>
            <a:ext cx="51435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51600" y="3937000"/>
            <a:ext cx="4889500" cy="20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PIPELINE VERIFICATION &amp; PREPROCESSING RULES: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Type Coercion &amp; Schema Defense: Pydantic validates payload structure before routing, rejecting malformed types with HTTP 422.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Clean Image Formatting: Uploaded images are validated for allowed MIME types (.jpg, .png) and capped at 5MB to preserve performance.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Pixel Standardization: All lost/found photos are transformed to fixed 224x224 RGB tensors with channel-wise normalization.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Feature Embedding: Processed tensors generate high-dimensional vectors stored for cosine similarity comparison.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A: PROPOSED METHODOLOGY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A: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03 ·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Multi-tier layered system architecture with decoupled frontend, REST API service layer, relational DB, and AI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7366000" cy="609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400" y="1346200"/>
            <a:ext cx="13970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CLIENT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9000" y="1320800"/>
            <a:ext cx="55880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4273A"/>
                </a:solidFill>
                <a:latin typeface="Calibri"/>
              </a:defRPr>
            </a:pPr>
            <a:r>
              <a:t>Students  ·  Club Coordinators  ·  College Administrators</a:t>
            </a:r>
          </a:p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Accessing CampusConnect through responsive modern web browsers via HTTPS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0" y="1854200"/>
            <a:ext cx="3302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090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7366000" cy="685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0400" y="2133600"/>
            <a:ext cx="13970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FRONTEND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9000" y="2108200"/>
            <a:ext cx="558800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React.js Responsive Single Page Application (SPA)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Component Architecture  ·  Axios Client  ·  Role-Based UI Views  ·  State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2717800"/>
            <a:ext cx="3302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6978"/>
                </a:solidFill>
              </a:defRPr>
            </a:pPr>
            <a:r>
              <a:t>▼  (RESTful JSON / HTTPS)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1000"/>
            <a:ext cx="7366000" cy="14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0400" y="3022600"/>
            <a:ext cx="13970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BACKEND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9000" y="2997200"/>
            <a:ext cx="5588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FastAPI REST API Framework (Asynchronous Python Engine)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400" y="3378200"/>
            <a:ext cx="1270000" cy="863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3454400"/>
            <a:ext cx="11684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E2761"/>
                </a:solidFill>
                <a:latin typeface="Calibri"/>
              </a:defRPr>
            </a:pPr>
            <a:r>
              <a:t>Auth &amp; JWT</a:t>
            </a:r>
          </a:p>
          <a:p>
            <a:pPr algn="ctr">
              <a:defRPr sz="800">
                <a:solidFill>
                  <a:srgbClr val="646978"/>
                </a:solidFill>
                <a:latin typeface="Calibri"/>
              </a:defRPr>
            </a:pPr>
            <a:r>
              <a:t>Bearer token handler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4700" y="3378200"/>
            <a:ext cx="1270000" cy="863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5500" y="3454400"/>
            <a:ext cx="11684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E2761"/>
                </a:solidFill>
                <a:latin typeface="Calibri"/>
              </a:defRPr>
            </a:pPr>
            <a:r>
              <a:t>RBAC Engine</a:t>
            </a:r>
          </a:p>
          <a:p>
            <a:pPr algn="ctr">
              <a:defRPr sz="800">
                <a:solidFill>
                  <a:srgbClr val="646978"/>
                </a:solidFill>
                <a:latin typeface="Calibri"/>
              </a:defRPr>
            </a:pPr>
            <a:r>
              <a:t>Role gatekeeper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378200"/>
            <a:ext cx="1270000" cy="863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9800" y="3454400"/>
            <a:ext cx="11684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E2761"/>
                </a:solidFill>
                <a:latin typeface="Calibri"/>
              </a:defRPr>
            </a:pPr>
            <a:r>
              <a:t>Pydantic</a:t>
            </a:r>
          </a:p>
          <a:p>
            <a:pPr algn="ctr">
              <a:defRPr sz="800">
                <a:solidFill>
                  <a:srgbClr val="646978"/>
                </a:solidFill>
                <a:latin typeface="Calibri"/>
              </a:defRPr>
            </a:pPr>
            <a:r>
              <a:t>Schema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13300" y="3378200"/>
            <a:ext cx="1270000" cy="863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100" y="3454400"/>
            <a:ext cx="11684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E2761"/>
                </a:solidFill>
                <a:latin typeface="Calibri"/>
              </a:defRPr>
            </a:pPr>
            <a:r>
              <a:t>Service Layer</a:t>
            </a:r>
          </a:p>
          <a:p>
            <a:pPr algn="ctr">
              <a:defRPr sz="800">
                <a:solidFill>
                  <a:srgbClr val="646978"/>
                </a:solidFill>
                <a:latin typeface="Calibri"/>
              </a:defRPr>
            </a:pPr>
            <a:r>
              <a:t>Core business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7600" y="3378200"/>
            <a:ext cx="1270000" cy="863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3454400"/>
            <a:ext cx="116840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E2761"/>
                </a:solidFill>
                <a:latin typeface="Calibri"/>
              </a:defRPr>
            </a:pPr>
            <a:r>
              <a:t>SQLAlchemy</a:t>
            </a:r>
          </a:p>
          <a:p>
            <a:pPr algn="ctr">
              <a:defRPr sz="800">
                <a:solidFill>
                  <a:srgbClr val="646978"/>
                </a:solidFill>
                <a:latin typeface="Calibri"/>
              </a:defRPr>
            </a:pPr>
            <a:r>
              <a:t>ORM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0" y="4368800"/>
            <a:ext cx="3302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6978"/>
                </a:solidFill>
              </a:defRPr>
            </a:pPr>
            <a:r>
              <a:t>▼  (SQLAlchemy Sessions / Connection Pool)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7366000" cy="1676400"/>
          </a:xfrm>
          <a:prstGeom prst="roundRect">
            <a:avLst/>
          </a:prstGeom>
          <a:solidFill>
            <a:srgbClr val="F4F7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400" y="4673600"/>
            <a:ext cx="13970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DATABASE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0" y="4648200"/>
            <a:ext cx="5588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PostgreSQL Relational Database (3NF Relational Model)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400" y="50038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8500" y="50038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Clubs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50038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84700" y="50038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Event_Registrations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2800" y="50038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Lost_Items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400" y="53594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Found_Items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68500" y="53594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Marketplace_Items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6600" y="53594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Complaints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84700" y="5359400"/>
            <a:ext cx="1219200" cy="27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0">
                <a:solidFill>
                  <a:srgbClr val="24273A"/>
                </a:solidFill>
                <a:latin typeface="Calibri"/>
              </a:defRPr>
            </a:pPr>
            <a:r>
              <a:t>Announcements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" y="5740400"/>
            <a:ext cx="711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28090"/>
                </a:solidFill>
                <a:latin typeface="Calibri"/>
              </a:defRPr>
            </a:pPr>
            <a:r>
              <a:t>DBMS Principles: 3NF Normalization  ·  ACID Transactions  ·  Foreign Key Cascades  ·  B-Tree Indexing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7359" y="1270000"/>
            <a:ext cx="3556000" cy="49784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87359" y="1270000"/>
            <a:ext cx="57150" cy="4978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5000" y="1422400"/>
            <a:ext cx="32385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Calibri"/>
              </a:defRPr>
            </a:pPr>
            <a:r>
              <a:t>AI LOST &amp; FOUND SUBSYSTEM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5000" y="1701800"/>
            <a:ext cx="3238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Decoupled visual similarity pipeline assisting student lost item discovery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55000" y="2108200"/>
            <a:ext cx="322072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6600" y="2159000"/>
            <a:ext cx="3022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1. Image Upload</a:t>
            </a:r>
          </a:p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Student uploads image of lost or found item via React 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55000" y="2844800"/>
            <a:ext cx="322072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6600" y="2895600"/>
            <a:ext cx="3022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2. Image Preprocessing</a:t>
            </a:r>
          </a:p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Image validated, scaled to 224x224, normalized to tensors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5000" y="3581400"/>
            <a:ext cx="322072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6600" y="3632200"/>
            <a:ext cx="3022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3. Feature Extraction</a:t>
            </a:r>
          </a:p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Deep visual feature vector embedding extracted from image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55000" y="4318000"/>
            <a:ext cx="322072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6600" y="4368800"/>
            <a:ext cx="3022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4. Similarity Matching</a:t>
            </a:r>
          </a:p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Cosine similarity calculated against stored active found items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55000" y="5054600"/>
            <a:ext cx="322072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6600" y="5105400"/>
            <a:ext cx="3022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5. Candidate Ranking</a:t>
            </a:r>
          </a:p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Top matches ranked and presented to claimant for verification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55000" y="5816600"/>
            <a:ext cx="322072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5800" y="5867400"/>
            <a:ext cx="3111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6A34A"/>
                </a:solidFill>
                <a:latin typeface="Calibri"/>
              </a:defRPr>
            </a:pPr>
            <a:r>
              <a:t>✔ Assisting visual matching (no fabricated metrics)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A: PROPOSED METHODOLOGY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A: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04 · ALGORITHM &amp; TECHNOLOGY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Technology selection, functional purpose, and architectural justification across the full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1168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040" y="1371600"/>
            <a:ext cx="12065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9139" y="1358900"/>
            <a:ext cx="3896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Frontend /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40" y="165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Component-based development, virtual DOM reactivity, and seamless Single Page Application (SPA) experience for campus students and administrators.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540000"/>
            <a:ext cx="57150" cy="1168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1040" y="2641600"/>
            <a:ext cx="12065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9139" y="2628900"/>
            <a:ext cx="3896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REST API Backend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440" y="292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High-performance Python async API framework with automatic Pydantic validation, OpenAPI documentation generation, and native coroutine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1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810000"/>
            <a:ext cx="57150" cy="1168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1040" y="3911600"/>
            <a:ext cx="12065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9139" y="3898900"/>
            <a:ext cx="3896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Relational Database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440" y="419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Enterprise-grade relational integrity, strict Foreign Key constraints, ACID transaction safety, and structured management of campus relational entities.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8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080000"/>
            <a:ext cx="57150" cy="1168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040" y="5181600"/>
            <a:ext cx="12065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9139" y="5168900"/>
            <a:ext cx="3896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ORM &amp; Database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440" y="546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Decouples business logic from low-level SQL, ensures clean session management, and provides protection against SQL injection attacks.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9500" y="127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9500" y="1270000"/>
            <a:ext cx="57150" cy="1168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11900" y="1371600"/>
            <a:ext cx="13335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7000" y="1358900"/>
            <a:ext cx="3769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Request/Response Data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7300" y="165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Validates incoming JSON payloads and enforces outgoing serialization contracts, catching invalid data types and returning standardized HTTP 422 errors.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9500" y="254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59500" y="2540000"/>
            <a:ext cx="57150" cy="1168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11900" y="2641600"/>
            <a:ext cx="13335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7000" y="2628900"/>
            <a:ext cx="3769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Authentication &amp; Authorization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7300" y="292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Stateless bearer token authentication with role-based access control protecting student, club coordinator, and administrative endpoints from unauthorized access.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9500" y="3810000"/>
            <a:ext cx="5483860" cy="1168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59500" y="3810000"/>
            <a:ext cx="57150" cy="1168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11900" y="3911600"/>
            <a:ext cx="133350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AI Visual Matcher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7000" y="3898900"/>
            <a:ext cx="376936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Purpose: Lost &amp; Found Image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7300" y="4191000"/>
            <a:ext cx="5179060" cy="71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Architectural Rationale: Computes high-dimensional feature vectors from lost/found photos to evaluate cosine similarity, overcoming ambiguous or incomplete manual text descriptions.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9500" y="5080000"/>
            <a:ext cx="5483860" cy="11684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7300" y="5181600"/>
            <a:ext cx="5179060" cy="965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090"/>
                </a:solidFill>
                <a:latin typeface="Calibri"/>
              </a:defRPr>
            </a:pPr>
            <a:r>
              <a:t>ACADEMIC SELECTION CRITERIA &amp; RIGOR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Cohesive Python + React full-stack ecosystem with zero impedance mismatch.</a:t>
            </a:r>
            <a:br/>
            <a:r>
              <a:t>• Strong relational consistency prevents data anomalies in event registrations &amp; grievances.</a:t>
            </a:r>
            <a:br/>
            <a:r>
              <a:t>• Avoids premature model claims: visual similarity algorithm evaluated on empirical retrieval.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A: PROPOSED METHODOLOGY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A: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05 ·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End-to-end user request lifecycle and specialized AI image similarity matching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11094720" cy="2260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2260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13716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761"/>
                </a:solidFill>
                <a:latin typeface="Calibri"/>
              </a:defRPr>
            </a:pPr>
            <a:r>
              <a:t>PRIMARY SYSTEM REQUEST LIFECYCLE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74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User Action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Click /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3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77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939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React UI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Axios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9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4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9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FastAPI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API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6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0700" y="1727200"/>
            <a:ext cx="1092200" cy="812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069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6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Auth &amp; RBAC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JWT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7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34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Pydantic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Schema Valid.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3700" y="1727200"/>
            <a:ext cx="1092200" cy="812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99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9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Service Layer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5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0200" y="1727200"/>
            <a:ext cx="1092200" cy="812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64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ACID Commit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2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567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29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2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JSON Output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Status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8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63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39400" y="1803400"/>
            <a:ext cx="203200" cy="177800"/>
          </a:xfrm>
          <a:prstGeom prst="roundRect">
            <a:avLst/>
          </a:prstGeom>
          <a:solidFill>
            <a:srgbClr val="6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8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UI State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Live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" y="2717800"/>
            <a:ext cx="1066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Workflow Guarantee: Client requests pass through strict stateless authentication, role checks, and schema validation before touching service logic. Database transactions commit atomically with rollback upon any validation or server error.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683000"/>
            <a:ext cx="11094720" cy="25654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683000"/>
            <a:ext cx="57150" cy="2565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600" y="37846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28090"/>
                </a:solidFill>
                <a:latin typeface="Calibri"/>
              </a:defRPr>
            </a:pPr>
            <a:r>
              <a:t>SPECIALIZED AI LOST &amp; FOUND MATCHING WORKFLOW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12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28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2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Image Upload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8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Raw JPG/PNG file submitted with location &amp; category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87600" y="4572000"/>
            <a:ext cx="1524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400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6416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10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16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Validated, normalized, resized to 224x224 RGB tensors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16400" y="4572000"/>
            <a:ext cx="1524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88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4704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498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Feature Ext.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04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Deep visual embedding vector generated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45200" y="4572000"/>
            <a:ext cx="1524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76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992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86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Similarity Comp.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Cosine similarity against active found item vectors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74000" y="4572000"/>
            <a:ext cx="1524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64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280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074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Candidate Rank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80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Sorted by similarity score above threshold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2800" y="4572000"/>
            <a:ext cx="1524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55200" y="414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956800" y="4241800"/>
            <a:ext cx="228600" cy="20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36200" y="4216400"/>
            <a:ext cx="12192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2761"/>
                </a:solidFill>
                <a:latin typeface="Calibri"/>
              </a:defRPr>
            </a:pPr>
            <a:r>
              <a:t>Result Output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56800" y="4521200"/>
            <a:ext cx="14732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24273A"/>
                </a:solidFill>
                <a:latin typeface="Calibri"/>
              </a:defRPr>
            </a:pPr>
            <a:r>
              <a:t>Ranked candidate cards displayed on student UI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600" y="5410200"/>
            <a:ext cx="1066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2761"/>
                </a:solidFill>
                <a:latin typeface="Calibri"/>
              </a:defRPr>
            </a:pPr>
            <a:r>
              <a:t>Empirical Evaluation Focus: Visual matching augments traditional keyword search by highlighting visually similar candidate items. Verification focuses on candidate ranking and match retrieval usefulness without unverified benchmark percentages.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A: PROPOSED METHODOLOGY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B: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06 ·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Implementation stack, programming languages, backend frameworks, database systems, and testing toolchain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2679700" cy="2349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23495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397000"/>
            <a:ext cx="24257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Programming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" y="1752600"/>
            <a:ext cx="24257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JavaScript (ES6+)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Python 3.10+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SQL (PostgreSQL Dialect)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" y="2844800"/>
            <a:ext cx="24257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Core logic, async backend &amp; database 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8990" y="1270000"/>
            <a:ext cx="2679700" cy="2349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8990" y="1270000"/>
            <a:ext cx="57150" cy="23495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1390" y="1397000"/>
            <a:ext cx="24257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Frontend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1390" y="1752600"/>
            <a:ext cx="24257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React.js 18 (SPA)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HTML5 &amp; Modern CSS3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Axios HTTP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1390" y="2844800"/>
            <a:ext cx="24257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Responsive student &amp; coordinator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9340" y="1270000"/>
            <a:ext cx="2679700" cy="2349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1270000"/>
            <a:ext cx="57150" cy="23495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1740" y="1397000"/>
            <a:ext cx="24257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Backend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740" y="1752600"/>
            <a:ext cx="24257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FastAPI Engine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Uvicorn ASGI Server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Starlette 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1740" y="2844800"/>
            <a:ext cx="24257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High-throughput asynchronous REST API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9690" y="1270000"/>
            <a:ext cx="2679700" cy="2349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49690" y="1270000"/>
            <a:ext cx="57150" cy="23495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2090" y="1397000"/>
            <a:ext cx="24257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Database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2090" y="1752600"/>
            <a:ext cx="24257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PostgreSQL 15+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pgAdmin 4 Administration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psycopg2 Database 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090" y="2844800"/>
            <a:ext cx="24257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Relational persistence with ACID guarantees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59200"/>
            <a:ext cx="3613150" cy="2476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59200"/>
            <a:ext cx="57150" cy="24765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40" y="3886200"/>
            <a:ext cx="33591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ORM &amp; Schema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40" y="4241800"/>
            <a:ext cx="3359150" cy="106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SQLAlchemy 2.0 (Repository Pattern)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Pydantic v2 (Strict Typing &amp; Validation)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Python-Jose (JWT Token Encoding)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" y="5435600"/>
            <a:ext cx="33591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Decoupled database sessions and strict incoming payload security.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790" y="3759200"/>
            <a:ext cx="3613150" cy="2476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88790" y="3759200"/>
            <a:ext cx="57150" cy="24765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1190" y="3886200"/>
            <a:ext cx="33591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Development &amp; VCS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1190" y="4241800"/>
            <a:ext cx="3359150" cy="106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Visual Studio Code (IDE)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Git &amp; GitHub (Version Control)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Postman Client (API Endpoint Testing)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1190" y="5435600"/>
            <a:ext cx="33591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Collaborative feature branch workflow and continuous endpoint validation.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940" y="3759200"/>
            <a:ext cx="3613150" cy="2476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940" y="3759200"/>
            <a:ext cx="57150" cy="24765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1340" y="3886200"/>
            <a:ext cx="33591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Calibri"/>
              </a:defRPr>
            </a:pPr>
            <a:r>
              <a:t>Testing &amp; Quality Suite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1340" y="4241800"/>
            <a:ext cx="3359150" cy="106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Pytest (Unit &amp; Integration Testing)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Postman Automated Test Collections</a:t>
            </a:r>
          </a:p>
          <a:p>
            <a:pPr>
              <a:defRPr sz="1000" b="1">
                <a:solidFill>
                  <a:srgbClr val="24273A"/>
                </a:solidFill>
                <a:latin typeface="Calibri"/>
              </a:defRPr>
            </a:pPr>
            <a:r>
              <a:t>✔  FastAPI TestClient (HTTP Mocking)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1340" y="5435600"/>
            <a:ext cx="33591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Automated test suites for endpoints, RBAC permissions, and DB transactions.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B: IMPLEMENTATION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B: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07 · 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Detailed HTTP request lifecycle, layered middleware execution flow, and backend component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11094720" cy="2222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22225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13716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761"/>
                </a:solidFill>
                <a:latin typeface="Calibri"/>
              </a:defRPr>
            </a:pPr>
            <a:r>
              <a:t>DETAILED BACKEND REQUEST LIFECYCLE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74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React Request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Axios HTTP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3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77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939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FastAPI Router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Path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9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4200" y="1727200"/>
            <a:ext cx="1092200" cy="8128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9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JWT Auth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Token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6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0700" y="1727200"/>
            <a:ext cx="1092200" cy="8128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069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6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RBAC Gate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Role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7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34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Pydantic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Schema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37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99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9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Service Layer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5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0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264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SQLAlchemy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ORM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24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56700" y="1727200"/>
            <a:ext cx="1092200" cy="8128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2900" y="18034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21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ACID Transaction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8900" y="2032000"/>
            <a:ext cx="1143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63200" y="1727200"/>
            <a:ext cx="10922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39400" y="18034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8600" y="2006600"/>
            <a:ext cx="10414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JSON Response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HTTP 200 / 201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" y="2667000"/>
            <a:ext cx="10668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6978"/>
                </a:solidFill>
                <a:latin typeface="Calibri"/>
              </a:defRPr>
            </a:pPr>
            <a:r>
              <a:t>Security Invariant: No endpoint logic executes before JWT Bearer verification and RBAC role validation. If a token is expired or unauthorized, FastAPI raises an HTTPException (401 Unauthorized or 403 Forbidden) and terminates execution immediately.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36322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632200"/>
            <a:ext cx="57150" cy="1219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1040" y="3733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040" y="40132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JWT-based stateless bearer tokens, bcrypt password hashing, and token expiration checks.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88790" y="36322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88790" y="3632200"/>
            <a:ext cx="57150" cy="1219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1190" y="3733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Authorization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1190" y="40132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Granular role-based permissions separating Student, Club Coordinator, and College Admin operations.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940" y="36322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28940" y="3632200"/>
            <a:ext cx="57150" cy="1219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1340" y="3733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Data Validation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1340" y="40132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Pydantic models inspect request payloads; type mismatches return instant HTTP 422 errors.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9657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8640" y="4965700"/>
            <a:ext cx="57150" cy="1219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1040" y="50673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Database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040" y="53467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SQLAlchemy ORM manages PostgreSQL connection pools, transactions, commits, and rollbacks.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88790" y="49657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288790" y="4965700"/>
            <a:ext cx="57150" cy="1219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41190" y="50673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REST API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1190" y="53467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Standardized REST endpoints (/api/v1/...) returning clean JSON payloads and HTTP status codes.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28940" y="4965700"/>
            <a:ext cx="361315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28940" y="4965700"/>
            <a:ext cx="57150" cy="1219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1340" y="50673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A34A"/>
                </a:solidFill>
                <a:latin typeface="Calibri"/>
              </a:defRPr>
            </a:pPr>
            <a:r>
              <a:t>API Testing Suite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1340" y="5346700"/>
            <a:ext cx="335915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Verified with Postman collections and Pytest TestClient for unit and integration regression.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B: IMPLEMENTATION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B: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08 · MODULE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Structured functional scope, API endpoint design, and role-based permissions across platform modules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46200"/>
          <a:ext cx="1109472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4572000"/>
                <a:gridCol w="2222500"/>
                <a:gridCol w="1633220"/>
              </a:tblGrid>
              <a:tr h="6159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Name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 Scope &amp; Implementation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API Endpoints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Access Roles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Authentication &amp; Users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User registration, secure login, password hashing (bcrypt), and stateless JWT access token issuance.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/api/auth/register</a:t>
                      </a:r>
                      <a:br/>
                      <a:r>
                        <a:t>/api/auth/login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All Campus Users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Clubs &amp; Campus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Club profile publishing, event scheduling, attendee RSVP handling, and venue/capacity limits.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/api/events</a:t>
                      </a:r>
                      <a:br/>
                      <a:r>
                        <a:t>/api/events/register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Students, Coordinators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AI Lost &amp; Found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Lost/found item reporting, image uploads, metadata tagging, and AI-assisted visual similarity matching.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/api/lost-found/items</a:t>
                      </a:r>
                      <a:br/>
                      <a:r>
                        <a:t>/api/lost-found/match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Students, Admins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Student Marketplace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Peer-to-peer textbook and student item listings, condition ratings, and discovery.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/api/marketplace/items</a:t>
                      </a:r>
                      <a:br/>
                      <a:r>
                        <a:t>/api/marketplace/contact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Registered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Complaints &amp; Grievances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Structured student grievance filing, automated department routing, priority flags, and resolution tracking.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/api/complaints</a:t>
                      </a:r>
                      <a:br/>
                      <a:r>
                        <a:t>/api/complaints/{id}/status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Students, Dept Admins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Central Announcements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Official university broadcasts, urgent alert flags, categorized bulletin updates, and notifications.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/api/announcements</a:t>
                      </a:r>
                      <a:br/>
                      <a:r>
                        <a:t>/api/announcements/urgent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Admin (W), Students (R)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●  Admin &amp; Moderation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Role management, content moderation, grievance resolution overrides, and platform activity logs.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28090"/>
                          </a:solidFill>
                          <a:latin typeface="Consolas"/>
                        </a:defRPr>
                      </a:pPr>
                      <a:r>
                        <a:t>/api/admin/users/roles</a:t>
                      </a:r>
                      <a:br/>
                      <a:r>
                        <a:t>/api/admin/moderation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College Admin Only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B: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B: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09 · IMPLEMENTATION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Sequential engineering roadmap from requirement analysis to database design, backend, AI integration, and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46200"/>
            <a:ext cx="57150" cy="3683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5640" y="1473200"/>
            <a:ext cx="457200" cy="304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Requirement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Identified student pain points across clubs, events, and complaints; established modular REST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5392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53920" y="1346200"/>
            <a:ext cx="57150" cy="3683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0920" y="1473200"/>
            <a:ext cx="457200" cy="304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92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Database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092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Designed 3NF PostgreSQL relational schema with primary/foreign keys, unique constraints, and indexes.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920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59200" y="1346200"/>
            <a:ext cx="57150" cy="3683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86200" y="1473200"/>
            <a:ext cx="457200" cy="304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Frontend 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Built responsive React.js SPA components, forms, client routing, and authenticated user 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448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64480" y="1346200"/>
            <a:ext cx="57150" cy="3683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91480" y="1473200"/>
            <a:ext cx="457200" cy="304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148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Backend 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148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Implemented FastAPI REST endpoints, JWT authentication middleware, RBAC logic, and Pydantic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976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69760" y="1346200"/>
            <a:ext cx="57150" cy="3683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6760" y="1473200"/>
            <a:ext cx="457200" cy="304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676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676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Developed Lost &amp; Found image preprocessing pipeline and vector similarity matching module.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504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75040" y="1346200"/>
            <a:ext cx="57150" cy="3683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02040" y="1473200"/>
            <a:ext cx="457200" cy="304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204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Testing &amp; Debug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204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Executed Pytest test suite, API integration checks, security boundary validation, and DB integrity audits.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80320" y="1346200"/>
            <a:ext cx="1460500" cy="36830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80320" y="1346200"/>
            <a:ext cx="57150" cy="3683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07320" y="1473200"/>
            <a:ext cx="457200" cy="304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7320" y="1879600"/>
            <a:ext cx="12319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Deployment Prep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7320" y="2463800"/>
            <a:ext cx="1231900" cy="241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Configured environment variables, ASGI production server settings, and deployment documentation.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232400"/>
            <a:ext cx="11094720" cy="1066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600" y="5308600"/>
            <a:ext cx="1066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ENGINEERING METHODOLOGY SUMMARY &amp; MILESTONE STATUS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Stages 01 through 06 have been fully executed with empirical code artifacts, passing test cases, and relational constraints.</a:t>
            </a:r>
            <a:br/>
            <a:r>
              <a:t>• Stage 07 is prepared for institutional staging rollout with decoupled services and documented environment configurations.</a:t>
            </a:r>
            <a:br/>
            <a:r>
              <a:t>• The roadmap strictly enforces quality gates: schema verification and unit tests precede module integration.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B: IMPLEMENTATION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C: TESTING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10 ·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Multi-level verification strategy covering unit testing, integration workflows, database integrity, security, and AI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08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0800"/>
            <a:ext cx="57150" cy="2362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040" y="1447800"/>
            <a:ext cx="13970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UNIT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" y="17272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FastAPI Endpoints &amp;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" y="20066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Tested individual route handlers and Pydantic validation models using Pytest.</a:t>
            </a:r>
            <a:br/>
            <a:r>
              <a:t>• Verified password hashing with bcrypt and token encoding/decoding.</a:t>
            </a:r>
            <a:br/>
            <a:r>
              <a:t>• Confirmed rejection of malformed JSON payloads with HTTP 422.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790" y="13208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8790" y="1320800"/>
            <a:ext cx="57150" cy="2362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1190" y="1447800"/>
            <a:ext cx="13970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1190" y="17272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End-to-End Workflow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1190" y="20066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Verified communication pipeline: React UI → FastAPI router → PostgreSQL DB.</a:t>
            </a:r>
            <a:br/>
            <a:r>
              <a:t>• Validated end-to-end event registration and seat decrementing workflows.</a:t>
            </a:r>
            <a:br/>
            <a:r>
              <a:t>• Ensured atomic state rollback when database transactions encounter exceptions.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940" y="13208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940" y="1320800"/>
            <a:ext cx="57150" cy="2362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1340" y="1447800"/>
            <a:ext cx="13970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DATABASE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1340" y="17272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3NF Schema &amp; Integrity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1340" y="20066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Verified primary keys, foreign key relationships, and cascade operations.</a:t>
            </a:r>
            <a:br/>
            <a:r>
              <a:t>• Enforced unique constraints preventing duplicate student event registrations.</a:t>
            </a:r>
            <a:br/>
            <a:r>
              <a:t>• Audited ACID transaction commit guarantees under concurrent session writes.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54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835400"/>
            <a:ext cx="57150" cy="2362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040" y="3962400"/>
            <a:ext cx="1397000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SECURITY &amp; RBAC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" y="4241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Authorization &amp; Token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" y="45212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Verified bearer JWT generation, signature verification, and expiration handling.</a:t>
            </a:r>
            <a:br/>
            <a:r>
              <a:t>• Confirmed rejection of unauthorized student access to admin endpoints (HTTP 403).</a:t>
            </a:r>
            <a:br/>
            <a:r>
              <a:t>• Protected routes against unauthenticated requests with HTTP 401 Unauthorized.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790" y="38354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88790" y="3835400"/>
            <a:ext cx="57150" cy="2362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41190" y="3962400"/>
            <a:ext cx="139700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AI MODULE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1190" y="4241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Lost &amp; Found Visual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1190" y="45212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Evaluated image standardization (224x224 RGB) and feature vector generation.</a:t>
            </a:r>
            <a:br/>
            <a:r>
              <a:t>• Evaluated candidate ranking accuracy by calculating cosine similarity on test items.</a:t>
            </a:r>
            <a:br/>
            <a:r>
              <a:t>• Assesses candidate retrieval relevance without claiming unverified benchmark percentages.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940" y="3835400"/>
            <a:ext cx="3613150" cy="23622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28940" y="3835400"/>
            <a:ext cx="57150" cy="2362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81340" y="3962400"/>
            <a:ext cx="139700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PERFORMANCE OBSERVATION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1340" y="4241800"/>
            <a:ext cx="335915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2761"/>
                </a:solidFill>
                <a:latin typeface="Calibri"/>
              </a:defRPr>
            </a:pPr>
            <a:r>
              <a:t>System Behavior &amp; Latency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1340" y="4521200"/>
            <a:ext cx="3359150" cy="157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Monitored query execution performance with indexed foreign key columns.</a:t>
            </a:r>
            <a:br/>
            <a:r>
              <a:t>• Verified sub-100ms response behavior for core cached read endpoints in local staging.</a:t>
            </a:r>
            <a:br/>
            <a:r>
              <a:t>• Empirical verification based strictly on actual project test executions.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C: TESTING &amp;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C: TESTING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11 · TEST CASES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Empirical test matrix execution results (TC-01 to TC-10) and implementation verification evidence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95400"/>
          <a:ext cx="1109472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3048000"/>
                <a:gridCol w="5697220"/>
                <a:gridCol w="1397000"/>
              </a:tblGrid>
              <a:tr h="282863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 Description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&amp; Verified Functional Result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User Registration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 account successfully created in DB with bcrypt password hash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Valid User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Valid credentials return signed JWT Bearer access 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Invalid User Login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Incorrect credentials rejected with HTTP 401 Unauthorized error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Event Publishing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Event entity stored with coordinator FK relation and capacity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Event Registration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 registration recorded; duplicate RSVP prevented by DB constraint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Complaint Submission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Grievance persisted with 'Pending' status and auto-routed to 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TC-07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Marketplace Listing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Used book listing created with owner FK and contact details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Lost Item 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Item record stored with location tag and uploaded image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286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TC-09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AI Visual Matching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Visual feature vector computed; candidate matching items ranked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</a:tr>
              <a:tr h="28287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TC-10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Unauthorized Admin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73A"/>
                          </a:solidFill>
                          <a:latin typeface="Calibri"/>
                        </a:defRPr>
                      </a:pPr>
                      <a:r>
                        <a:t>Student attempt to access admin route rejected with HTTP 403 Forbidden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✔ 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1200"/>
            <a:ext cx="11094720" cy="1803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21200"/>
            <a:ext cx="57150" cy="1803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600" y="4597400"/>
            <a:ext cx="762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EVALUATION EVIDENCE &amp; VERIFIED IMPLEMENTATION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200" y="4876800"/>
            <a:ext cx="20574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7400" y="4953000"/>
            <a:ext cx="1905000" cy="20320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00" b="1">
                <a:solidFill>
                  <a:srgbClr val="1E2761"/>
                </a:solidFill>
                <a:latin typeface="Calibri"/>
              </a:defRPr>
            </a:pPr>
            <a:r>
              <a:t>RELATIONAL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5207000"/>
            <a:ext cx="190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2761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5461000"/>
            <a:ext cx="19050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4273A"/>
                </a:solidFill>
                <a:latin typeface="Calibri"/>
              </a:defRPr>
            </a:pPr>
            <a:r>
              <a:t>PostgreSQL 3NF tables, foreign key constraints, indexes, and ACID transactions verified in pgAdmin.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5600" y="4876800"/>
            <a:ext cx="20574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4953000"/>
            <a:ext cx="1905000" cy="20320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00" b="1">
                <a:solidFill>
                  <a:srgbClr val="1E2761"/>
                </a:solidFill>
                <a:latin typeface="Calibri"/>
              </a:defRPr>
            </a:pPr>
            <a:r>
              <a:t>API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207000"/>
            <a:ext cx="190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2761"/>
                </a:solidFill>
                <a:latin typeface="Calibri"/>
              </a:defRPr>
            </a:pPr>
            <a:r>
              <a:t>FastAPI Swagger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461000"/>
            <a:ext cx="19050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4273A"/>
                </a:solidFill>
                <a:latin typeface="Calibri"/>
              </a:defRPr>
            </a:pPr>
            <a:r>
              <a:t>Interactive OpenAPI documentation (/docs) verifying all REST endpoint schemas and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0000" y="4876800"/>
            <a:ext cx="20574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56200" y="4953000"/>
            <a:ext cx="1905000" cy="20320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00" b="1">
                <a:solidFill>
                  <a:srgbClr val="1E2761"/>
                </a:solidFill>
                <a:latin typeface="Calibri"/>
              </a:defRPr>
            </a:pPr>
            <a:r>
              <a:t>FRONTEND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6200" y="5207000"/>
            <a:ext cx="190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2761"/>
                </a:solidFill>
                <a:latin typeface="Calibri"/>
              </a:defRPr>
            </a:pPr>
            <a:r>
              <a:t>React UI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6200" y="5461000"/>
            <a:ext cx="19050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4273A"/>
                </a:solidFill>
                <a:latin typeface="Calibri"/>
              </a:defRPr>
            </a:pPr>
            <a:r>
              <a:t>Authenticated student views, event listings, grievance filing forms, and responsive components.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4400" y="4876800"/>
            <a:ext cx="20574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40600" y="4953000"/>
            <a:ext cx="1905000" cy="20320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00" b="1">
                <a:solidFill>
                  <a:srgbClr val="1E2761"/>
                </a:solidFill>
                <a:latin typeface="Calibri"/>
              </a:defRPr>
            </a:pPr>
            <a:r>
              <a:t>AI MATCHING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0600" y="5207000"/>
            <a:ext cx="190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2761"/>
                </a:solidFill>
                <a:latin typeface="Calibri"/>
              </a:defRPr>
            </a:pPr>
            <a:r>
              <a:t>Lost &amp; Found 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0600" y="5461000"/>
            <a:ext cx="19050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4273A"/>
                </a:solidFill>
                <a:latin typeface="Calibri"/>
              </a:defRPr>
            </a:pPr>
            <a:r>
              <a:t>Image preprocessing, feature extraction pipeline, and ranked candidate similarity outputs.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48800" y="4876800"/>
            <a:ext cx="20574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25000" y="4953000"/>
            <a:ext cx="1905000" cy="20320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00" b="1">
                <a:solidFill>
                  <a:srgbClr val="1E2761"/>
                </a:solidFill>
                <a:latin typeface="Calibri"/>
              </a:defRPr>
            </a:pPr>
            <a:r>
              <a:t>AUTOMATED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5207000"/>
            <a:ext cx="190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2761"/>
                </a:solidFill>
                <a:latin typeface="Calibri"/>
              </a:defRPr>
            </a:pPr>
            <a:r>
              <a:t>Pytest Test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5461000"/>
            <a:ext cx="19050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4273A"/>
                </a:solidFill>
                <a:latin typeface="Calibri"/>
              </a:defRPr>
            </a:pPr>
            <a:r>
              <a:t>Automated test execution suite verifying authentication, RBAC authorization, and API payloads.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C: TESTING &amp;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SECTION C: TESTING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49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761"/>
                </a:solidFill>
                <a:latin typeface="Cambria"/>
              </a:defRPr>
            </a:pPr>
            <a:r>
              <a:t>12 · DEPLOYMENT &amp; FUTURE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6978"/>
                </a:solidFill>
                <a:latin typeface="Calibri"/>
              </a:defRPr>
            </a:pPr>
            <a:r>
              <a:t>Deployment architecture, operational maintenance lifecycle, and concluding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70000"/>
            <a:ext cx="6477000" cy="23495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70000"/>
            <a:ext cx="57150" cy="23495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600" y="1371600"/>
            <a:ext cx="609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761"/>
                </a:solidFill>
                <a:latin typeface="Calibri"/>
              </a:defRPr>
            </a:pPr>
            <a:r>
              <a:t>SYSTEM DEPLOYMENT TOPOLOGY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1701800"/>
            <a:ext cx="1143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7400" y="17780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1981200"/>
            <a:ext cx="10922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Student Browser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HTTPS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2006600"/>
            <a:ext cx="1016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55800" y="1701800"/>
            <a:ext cx="1143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2000" y="17780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1981200"/>
            <a:ext cx="10922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Frontend App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React SPA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8800" y="2006600"/>
            <a:ext cx="1016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701800"/>
            <a:ext cx="1143000" cy="8128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6600" y="17780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5800" y="1981200"/>
            <a:ext cx="10922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FastAPI Backend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ASGI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06600"/>
            <a:ext cx="1016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5000" y="1701800"/>
            <a:ext cx="1143000" cy="8128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1200" y="1778000"/>
            <a:ext cx="203200" cy="177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1981200"/>
            <a:ext cx="10922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28090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Relational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0" y="2006600"/>
            <a:ext cx="1016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9600" y="1701800"/>
            <a:ext cx="1143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5800" y="1778000"/>
            <a:ext cx="203200" cy="177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981200"/>
            <a:ext cx="10922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761"/>
                </a:solidFill>
                <a:latin typeface="Calibri"/>
              </a:defRPr>
            </a:pPr>
            <a:r>
              <a:t>AI Service</a:t>
            </a:r>
          </a:p>
          <a:p>
            <a:pPr algn="ctr">
              <a:defRPr sz="750">
                <a:solidFill>
                  <a:srgbClr val="24273A"/>
                </a:solidFill>
                <a:latin typeface="Calibri"/>
              </a:defRPr>
            </a:pPr>
            <a:r>
              <a:t>Image Matcher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600" y="2616200"/>
            <a:ext cx="609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• Deployment Strategy: Flexible deployment architecture ready for cloud VM instances or institutional local campus servers.</a:t>
            </a:r>
            <a:br/>
            <a:r>
              <a:t>• User Access: Accessible across campus intranet via desktop and mobile web browsers without local installation overhead.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59200"/>
            <a:ext cx="6477000" cy="25146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759200"/>
            <a:ext cx="57150" cy="2514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600" y="3860800"/>
            <a:ext cx="6096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OPERATIONAL MAINTENANCE &amp; FUTURE ROADMAP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600" y="4165600"/>
            <a:ext cx="6096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600" y="4216400"/>
            <a:ext cx="59055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2761"/>
                </a:solidFill>
                <a:latin typeface="Calibri"/>
              </a:defRPr>
            </a:pPr>
            <a:r>
              <a:t>✔  Database Backups &amp; Integrity: </a:t>
            </a:r>
            <a:r>
              <a:rPr b="0">
                <a:solidFill>
                  <a:srgbClr val="24273A"/>
                </a:solidFill>
              </a:rPr>
              <a:t>Automated daily PostgreSQL dumps, transaction log archiving, and periodic constraint audits.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600" y="4673600"/>
            <a:ext cx="6096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3600" y="4724400"/>
            <a:ext cx="59055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2761"/>
                </a:solidFill>
                <a:latin typeface="Calibri"/>
              </a:defRPr>
            </a:pPr>
            <a:r>
              <a:t>✔  Security Updates &amp; Token Rotation: </a:t>
            </a:r>
            <a:r>
              <a:rPr b="0">
                <a:solidFill>
                  <a:srgbClr val="24273A"/>
                </a:solidFill>
              </a:rPr>
              <a:t>Regular JWT secret key rotation, bcrypt work factor adjustments, and CORS policy audits.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600" y="5181600"/>
            <a:ext cx="6096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3600" y="5232400"/>
            <a:ext cx="59055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2761"/>
                </a:solidFill>
                <a:latin typeface="Calibri"/>
              </a:defRPr>
            </a:pPr>
            <a:r>
              <a:t>✔  API Health &amp; Performance Monitoring: </a:t>
            </a:r>
            <a:r>
              <a:rPr b="0">
                <a:solidFill>
                  <a:srgbClr val="24273A"/>
                </a:solidFill>
              </a:rPr>
              <a:t>Endpoint latency logging, connection pool tuning, and error rate alerting in production.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600" y="5689600"/>
            <a:ext cx="6096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600" y="5740400"/>
            <a:ext cx="59055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2761"/>
                </a:solidFill>
                <a:latin typeface="Calibri"/>
              </a:defRPr>
            </a:pPr>
            <a:r>
              <a:t>✔  Feature Expansion &amp; Bug Fixing: </a:t>
            </a:r>
            <a:r>
              <a:rPr b="0">
                <a:solidFill>
                  <a:srgbClr val="24273A"/>
                </a:solidFill>
              </a:rPr>
              <a:t>Iterative module additions (e.g. canteen ordering, library loans) and continuous integration.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98359" y="1270000"/>
            <a:ext cx="4445000" cy="500380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98359" y="1270000"/>
            <a:ext cx="57150" cy="5003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6800" y="1524000"/>
            <a:ext cx="40005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2809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6800" y="1905000"/>
            <a:ext cx="40005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  <a:latin typeface="Cambria"/>
              </a:defRPr>
            </a:pPr>
            <a:r>
              <a:t>Thank You!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6800" y="2565400"/>
            <a:ext cx="40005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  <a:latin typeface="Calibri"/>
              </a:defRPr>
            </a:pPr>
            <a:r>
              <a:t>CampusConnect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16800" y="2870200"/>
            <a:ext cx="4000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978"/>
                </a:solidFill>
                <a:latin typeface="Calibri"/>
              </a:defRPr>
            </a:pPr>
            <a:r>
              <a:t>One Platform for Every Student Need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16800" y="3302000"/>
            <a:ext cx="4000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69200" y="3403600"/>
            <a:ext cx="3746500" cy="1193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PROJECT TEAM</a:t>
            </a:r>
          </a:p>
          <a:p>
            <a:pPr>
              <a:defRPr sz="1100" b="1">
                <a:solidFill>
                  <a:srgbClr val="24273A"/>
                </a:solidFill>
                <a:latin typeface="Calibri"/>
              </a:defRPr>
            </a:pPr>
            <a:r>
              <a:t>• Keerthana S           • Keerthana V</a:t>
            </a:r>
            <a:br/>
            <a:r>
              <a:t>• K. Sai Srinath         • Anvith Kumar</a:t>
            </a:r>
          </a:p>
          <a:p>
            <a:pPr>
              <a:defRPr sz="900">
                <a:solidFill>
                  <a:srgbClr val="646978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16800" y="4876800"/>
            <a:ext cx="4000500" cy="1168400"/>
          </a:xfrm>
          <a:prstGeom prst="roundRect">
            <a:avLst/>
          </a:prstGeom>
          <a:solidFill>
            <a:srgbClr val="EBF8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4953000"/>
            <a:ext cx="37465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090"/>
                </a:solidFill>
                <a:latin typeface="Calibri"/>
              </a:defRPr>
            </a:pPr>
            <a:r>
              <a:t>REVIEW – 3 CONCLUSION</a:t>
            </a:r>
          </a:p>
          <a:p>
            <a:pPr>
              <a:defRPr sz="850">
                <a:solidFill>
                  <a:srgbClr val="24273A"/>
                </a:solidFill>
                <a:latin typeface="Calibri"/>
              </a:defRPr>
            </a:pPr>
            <a:r>
              <a:t>CampusConnect establishes an enterprise-grade digital campus standard with verified modular backend architecture, 3NF relational modeling, secure RBAC policies, and an AI visual matching workflow.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51600"/>
            <a:ext cx="11094720" cy="12700"/>
          </a:xfrm>
          <a:prstGeom prst="rect">
            <a:avLst/>
          </a:prstGeom>
          <a:solidFill>
            <a:srgbClr val="DCE2EB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02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646978"/>
                </a:solidFill>
                <a:latin typeface="Calibri"/>
              </a:defRPr>
            </a:pPr>
            <a:r>
              <a:t>CAMPUSCONNECT  ·  ONE PLATFORM FOR EVERY STUDENT NEED  ·  SECTION C: TESTING &amp;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9000" y="6502400"/>
            <a:ext cx="186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028090"/>
                </a:solidFill>
                <a:latin typeface="Calibri"/>
              </a:defRPr>
            </a:pPr>
            <a:r>
              <a:t>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