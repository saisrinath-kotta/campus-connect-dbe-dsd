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hyperlink" Target="https://github.com/virajbhutada/students-grievance-management-system" TargetMode="External"/><Relationship Id="rId6" Type="http://schemas.openxmlformats.org/officeDocument/2006/relationships/hyperlink" Target="https://github.com/RookieDevp24/Campus-Lost-and-Found-Management-System" TargetMode="External"/><Relationship Id="rId5" Type="http://schemas.openxmlformats.org/officeDocument/2006/relationships/hyperlink" Target="https://github.com/KanavCode/smart-campus-utility-hub" TargetMode="External"/><Relationship Id="rId4" Type="http://schemas.openxmlformats.org/officeDocument/2006/relationships/hyperlink" Target="https://www.ijraset.com/research-paper/campusnexus-a-role-based-multi-college-campus-management-system" TargetMode="External"/><Relationship Id="rId3" Type="http://schemas.openxmlformats.org/officeDocument/2006/relationships/hyperlink" Target="https://www.suitable.co/" TargetMode="External"/><Relationship Id="rId2" Type="http://schemas.openxmlformats.org/officeDocument/2006/relationships/hyperlink" Target="https://help.anthology.com/engage/" TargetMode="External"/><Relationship Id="rId1" Type="http://schemas.openxmlformats.org/officeDocument/2006/relationships/hyperlink" Target="https://www.campusgroup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411480" y="109728"/>
            <a:ext cx="8412480" cy="256032"/>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DATABASE ENGINEERING: PBL  ·  PROJECT REVIEW - 2</a:t>
            </a:r>
            <a:endParaRPr sz="1050" b="1">
              <a:solidFill>
                <a:srgbClr val="028090"/>
              </a:solidFill>
              <a:latin typeface="Calibri" panose="020F0502020204030204"/>
            </a:endParaRPr>
          </a:p>
        </p:txBody>
      </p:sp>
      <p:sp>
        <p:nvSpPr>
          <p:cNvPr id="3" name="TextBox 2"/>
          <p:cNvSpPr txBox="1"/>
          <p:nvPr/>
        </p:nvSpPr>
        <p:spPr>
          <a:xfrm>
            <a:off x="594360" y="1325880"/>
            <a:ext cx="10698480" cy="731520"/>
          </a:xfrm>
          <a:prstGeom prst="rect">
            <a:avLst/>
          </a:prstGeom>
          <a:noFill/>
        </p:spPr>
        <p:txBody>
          <a:bodyPr wrap="square" lIns="27432" tIns="27432" rIns="27432" bIns="27432" anchor="t">
            <a:spAutoFit/>
          </a:bodyPr>
          <a:lstStyle/>
          <a:p>
            <a:pPr algn="l">
              <a:lnSpc>
                <a:spcPct val="100000"/>
              </a:lnSpc>
            </a:pPr>
            <a:r>
              <a:rPr sz="3800" b="1">
                <a:solidFill>
                  <a:srgbClr val="1E2761"/>
                </a:solidFill>
                <a:latin typeface="Cambria" panose="02040503050406030204"/>
              </a:rPr>
              <a:t>CampusConnect</a:t>
            </a:r>
            <a:endParaRPr sz="3800" b="1">
              <a:solidFill>
                <a:srgbClr val="1E2761"/>
              </a:solidFill>
              <a:latin typeface="Cambria" panose="02040503050406030204"/>
            </a:endParaRPr>
          </a:p>
        </p:txBody>
      </p:sp>
      <p:sp>
        <p:nvSpPr>
          <p:cNvPr id="4" name="TextBox 3"/>
          <p:cNvSpPr txBox="1"/>
          <p:nvPr/>
        </p:nvSpPr>
        <p:spPr>
          <a:xfrm>
            <a:off x="621792" y="2057400"/>
            <a:ext cx="9875520" cy="411480"/>
          </a:xfrm>
          <a:prstGeom prst="rect">
            <a:avLst/>
          </a:prstGeom>
          <a:noFill/>
        </p:spPr>
        <p:txBody>
          <a:bodyPr wrap="square" lIns="27432" tIns="27432" rIns="27432" bIns="27432" anchor="t">
            <a:spAutoFit/>
          </a:bodyPr>
          <a:lstStyle/>
          <a:p>
            <a:pPr algn="l">
              <a:lnSpc>
                <a:spcPct val="100000"/>
              </a:lnSpc>
            </a:pPr>
            <a:r>
              <a:rPr sz="2000" b="0">
                <a:solidFill>
                  <a:srgbClr val="24273A"/>
                </a:solidFill>
                <a:latin typeface="Calibri" panose="020F0502020204030204"/>
              </a:rPr>
              <a:t>Literature Review, Comparative Analysis &amp; Project Gap</a:t>
            </a:r>
            <a:endParaRPr sz="2000" b="0">
              <a:solidFill>
                <a:srgbClr val="24273A"/>
              </a:solidFill>
              <a:latin typeface="Calibri" panose="020F0502020204030204"/>
            </a:endParaRPr>
          </a:p>
        </p:txBody>
      </p:sp>
      <p:sp>
        <p:nvSpPr>
          <p:cNvPr id="5" name="TextBox 4"/>
          <p:cNvSpPr txBox="1"/>
          <p:nvPr/>
        </p:nvSpPr>
        <p:spPr>
          <a:xfrm>
            <a:off x="621792" y="2542032"/>
            <a:ext cx="9601200" cy="384048"/>
          </a:xfrm>
          <a:prstGeom prst="rect">
            <a:avLst/>
          </a:prstGeom>
          <a:noFill/>
        </p:spPr>
        <p:txBody>
          <a:bodyPr wrap="square" lIns="27432" tIns="27432" rIns="27432" bIns="27432" anchor="t">
            <a:spAutoFit/>
          </a:bodyPr>
          <a:lstStyle/>
          <a:p>
            <a:pPr algn="l">
              <a:lnSpc>
                <a:spcPct val="100000"/>
              </a:lnSpc>
            </a:pPr>
            <a:r>
              <a:rPr sz="1500" b="1">
                <a:solidFill>
                  <a:srgbClr val="028090"/>
                </a:solidFill>
                <a:latin typeface="Calibri" panose="020F0502020204030204"/>
              </a:rPr>
              <a:t>One Platform for Every Student Need</a:t>
            </a:r>
            <a:endParaRPr sz="1500" b="1">
              <a:solidFill>
                <a:srgbClr val="028090"/>
              </a:solidFill>
              <a:latin typeface="Calibri" panose="020F0502020204030204"/>
            </a:endParaRPr>
          </a:p>
        </p:txBody>
      </p:sp>
      <p:sp>
        <p:nvSpPr>
          <p:cNvPr id="6" name="Rounded Rectangle 5"/>
          <p:cNvSpPr/>
          <p:nvPr/>
        </p:nvSpPr>
        <p:spPr>
          <a:xfrm>
            <a:off x="594360" y="3749039"/>
            <a:ext cx="6583680" cy="1600200"/>
          </a:xfrm>
          <a:prstGeom prst="roundRect">
            <a:avLst/>
          </a:prstGeom>
          <a:solidFill>
            <a:srgbClr val="F4F7FC"/>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931920"/>
            <a:ext cx="1554480" cy="274320"/>
          </a:xfrm>
          <a:prstGeom prst="rect">
            <a:avLst/>
          </a:prstGeom>
          <a:noFill/>
        </p:spPr>
        <p:txBody>
          <a:bodyPr wrap="square" lIns="27432" tIns="27432" rIns="27432" bIns="27432" anchor="t">
            <a:spAutoFit/>
          </a:bodyPr>
          <a:lstStyle/>
          <a:p>
            <a:pPr algn="l">
              <a:lnSpc>
                <a:spcPct val="100000"/>
              </a:lnSpc>
            </a:pPr>
            <a:r>
              <a:rPr sz="1100" b="1">
                <a:solidFill>
                  <a:srgbClr val="028090"/>
                </a:solidFill>
                <a:latin typeface="Calibri" panose="020F0502020204030204"/>
              </a:rPr>
              <a:t>PROJECT TEAM</a:t>
            </a:r>
            <a:endParaRPr sz="1100" b="1">
              <a:solidFill>
                <a:srgbClr val="028090"/>
              </a:solidFill>
              <a:latin typeface="Calibri" panose="020F0502020204030204"/>
            </a:endParaRPr>
          </a:p>
        </p:txBody>
      </p:sp>
      <p:sp>
        <p:nvSpPr>
          <p:cNvPr id="8" name="TextBox 7"/>
          <p:cNvSpPr txBox="1"/>
          <p:nvPr/>
        </p:nvSpPr>
        <p:spPr>
          <a:xfrm>
            <a:off x="822960" y="4343400"/>
            <a:ext cx="6035040" cy="777240"/>
          </a:xfrm>
          <a:prstGeom prst="rect">
            <a:avLst/>
          </a:prstGeom>
          <a:noFill/>
        </p:spPr>
        <p:txBody>
          <a:bodyPr wrap="square" lIns="27432" tIns="27432" rIns="27432" bIns="27432" anchor="t">
            <a:spAutoFit/>
          </a:bodyPr>
          <a:lstStyle/>
          <a:p>
            <a:pPr algn="l">
              <a:lnSpc>
                <a:spcPct val="100000"/>
              </a:lnSpc>
            </a:pPr>
            <a:r>
              <a:rPr sz="1500" b="1">
                <a:solidFill>
                  <a:srgbClr val="24273A"/>
                </a:solidFill>
                <a:latin typeface="Calibri" panose="020F0502020204030204"/>
              </a:rPr>
              <a:t>Keerthana S  ·  Keerthana V  ·  K. Sai Srinath  ·  Anvith Kumar</a:t>
            </a:r>
            <a:endParaRPr sz="1500" b="1">
              <a:solidFill>
                <a:srgbClr val="24273A"/>
              </a:solidFill>
              <a:latin typeface="Calibri" panose="020F0502020204030204"/>
            </a:endParaRPr>
          </a:p>
        </p:txBody>
      </p:sp>
      <p:sp>
        <p:nvSpPr>
          <p:cNvPr id="9" name="TextBox 8"/>
          <p:cNvSpPr txBox="1"/>
          <p:nvPr/>
        </p:nvSpPr>
        <p:spPr>
          <a:xfrm>
            <a:off x="7772400" y="3913632"/>
            <a:ext cx="3474720" cy="274320"/>
          </a:xfrm>
          <a:prstGeom prst="rect">
            <a:avLst/>
          </a:prstGeom>
          <a:noFill/>
        </p:spPr>
        <p:txBody>
          <a:bodyPr wrap="square" lIns="27432" tIns="27432" rIns="27432" bIns="27432" anchor="t">
            <a:spAutoFit/>
          </a:bodyPr>
          <a:lstStyle/>
          <a:p>
            <a:pPr algn="l">
              <a:lnSpc>
                <a:spcPct val="100000"/>
              </a:lnSpc>
            </a:pPr>
            <a:r>
              <a:rPr sz="1100" b="1">
                <a:solidFill>
                  <a:srgbClr val="028090"/>
                </a:solidFill>
                <a:latin typeface="Calibri" panose="020F0502020204030204"/>
              </a:rPr>
              <a:t>FOCUS OF REVIEW 2</a:t>
            </a:r>
            <a:endParaRPr sz="1100" b="1">
              <a:solidFill>
                <a:srgbClr val="028090"/>
              </a:solidFill>
              <a:latin typeface="Calibri" panose="020F0502020204030204"/>
            </a:endParaRPr>
          </a:p>
        </p:txBody>
      </p:sp>
      <p:sp>
        <p:nvSpPr>
          <p:cNvPr id="10" name="TextBox 9"/>
          <p:cNvSpPr txBox="1"/>
          <p:nvPr/>
        </p:nvSpPr>
        <p:spPr>
          <a:xfrm>
            <a:off x="7772400" y="4315968"/>
            <a:ext cx="3474720" cy="914400"/>
          </a:xfrm>
          <a:prstGeom prst="rect">
            <a:avLst/>
          </a:prstGeom>
          <a:noFill/>
        </p:spPr>
        <p:txBody>
          <a:bodyPr wrap="square" lIns="27432" tIns="27432" rIns="27432" bIns="27432" anchor="t">
            <a:spAutoFit/>
          </a:bodyPr>
          <a:lstStyle/>
          <a:p>
            <a:pPr algn="l">
              <a:lnSpc>
                <a:spcPct val="100000"/>
              </a:lnSpc>
            </a:pPr>
            <a:r>
              <a:rPr sz="1400" b="0">
                <a:solidFill>
                  <a:srgbClr val="24273A"/>
                </a:solidFill>
                <a:latin typeface="Calibri" panose="020F0502020204030204"/>
              </a:rPr>
              <a:t>Existing applications
Database &amp; backend approaches
Limitations → gap → our improvement</a:t>
            </a:r>
            <a:endParaRPr sz="1400" b="0">
              <a:solidFill>
                <a:srgbClr val="24273A"/>
              </a:solidFill>
              <a:latin typeface="Calibri" panose="020F0502020204030204"/>
            </a:endParaRPr>
          </a:p>
        </p:txBody>
      </p:sp>
      <p:sp>
        <p:nvSpPr>
          <p:cNvPr id="11" name="Rectangle 10"/>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Based on the supplied Review-1 presentation and Literature Review sample.</a:t>
            </a:r>
            <a:endParaRPr sz="750" b="0">
              <a:solidFill>
                <a:srgbClr val="646978"/>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01 · REVIEW 2 FOUNDATIONS</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What We Studied for CampusConnect</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The review follows the course guidance: existing systems → technology → limitations → gap → proposed improvement.</a:t>
            </a:r>
            <a:endParaRPr sz="1250" b="0">
              <a:solidFill>
                <a:srgbClr val="646978"/>
              </a:solidFill>
              <a:latin typeface="Calibri" panose="020F0502020204030204"/>
            </a:endParaRPr>
          </a:p>
        </p:txBody>
      </p:sp>
      <p:sp>
        <p:nvSpPr>
          <p:cNvPr id="5" name="Rounded Rectangle 4"/>
          <p:cNvSpPr/>
          <p:nvPr/>
        </p:nvSpPr>
        <p:spPr>
          <a:xfrm>
            <a:off x="594360" y="1691640"/>
            <a:ext cx="3520440" cy="352044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0136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Application features</a:t>
            </a:r>
            <a:endParaRPr sz="1500" b="1">
              <a:solidFill>
                <a:srgbClr val="1E2761"/>
              </a:solidFill>
              <a:latin typeface="Calibri" panose="020F0502020204030204"/>
            </a:endParaRPr>
          </a:p>
        </p:txBody>
      </p:sp>
      <p:sp>
        <p:nvSpPr>
          <p:cNvPr id="7" name="TextBox 6"/>
          <p:cNvSpPr txBox="1"/>
          <p:nvPr/>
        </p:nvSpPr>
        <p:spPr>
          <a:xfrm>
            <a:off x="758952" y="2176272"/>
            <a:ext cx="3191256" cy="292608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 Clubs and memberships
• Event discovery and registration
• Announcements / communication
• Lost &amp; Found workflows
• Marketplace / student services
• Complaint / grievance tracking</a:t>
            </a:r>
            <a:endParaRPr sz="1150" b="0">
              <a:solidFill>
                <a:srgbClr val="24273A"/>
              </a:solidFill>
              <a:latin typeface="Calibri" panose="020F0502020204030204"/>
            </a:endParaRPr>
          </a:p>
        </p:txBody>
      </p:sp>
      <p:sp>
        <p:nvSpPr>
          <p:cNvPr id="8" name="Rounded Rectangle 7"/>
          <p:cNvSpPr/>
          <p:nvPr/>
        </p:nvSpPr>
        <p:spPr>
          <a:xfrm>
            <a:off x="4343400" y="1691640"/>
            <a:ext cx="3520440" cy="352044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80136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Database &amp; data layer</a:t>
            </a:r>
            <a:endParaRPr sz="1500" b="1">
              <a:solidFill>
                <a:srgbClr val="1E2761"/>
              </a:solidFill>
              <a:latin typeface="Calibri" panose="020F0502020204030204"/>
            </a:endParaRPr>
          </a:p>
        </p:txBody>
      </p:sp>
      <p:sp>
        <p:nvSpPr>
          <p:cNvPr id="10" name="TextBox 9"/>
          <p:cNvSpPr txBox="1"/>
          <p:nvPr/>
        </p:nvSpPr>
        <p:spPr>
          <a:xfrm>
            <a:off x="4507992" y="2176272"/>
            <a:ext cx="3191256" cy="292608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 Entities and relationships
• Relational vs NoSQL choices
• Keys, constraints and normalization
• Indexing and query performance
• Transactions and consistency
• Historical records and auditability</a:t>
            </a:r>
            <a:endParaRPr sz="1150" b="0">
              <a:solidFill>
                <a:srgbClr val="24273A"/>
              </a:solidFill>
              <a:latin typeface="Calibri" panose="020F0502020204030204"/>
            </a:endParaRPr>
          </a:p>
        </p:txBody>
      </p:sp>
      <p:sp>
        <p:nvSpPr>
          <p:cNvPr id="11" name="Rounded Rectangle 10"/>
          <p:cNvSpPr/>
          <p:nvPr/>
        </p:nvSpPr>
        <p:spPr>
          <a:xfrm>
            <a:off x="8092440" y="1691640"/>
            <a:ext cx="3520440" cy="352044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180136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Backend engineering</a:t>
            </a:r>
            <a:endParaRPr sz="1500" b="1">
              <a:solidFill>
                <a:srgbClr val="1E2761"/>
              </a:solidFill>
              <a:latin typeface="Calibri" panose="020F0502020204030204"/>
            </a:endParaRPr>
          </a:p>
        </p:txBody>
      </p:sp>
      <p:sp>
        <p:nvSpPr>
          <p:cNvPr id="13" name="TextBox 12"/>
          <p:cNvSpPr txBox="1"/>
          <p:nvPr/>
        </p:nvSpPr>
        <p:spPr>
          <a:xfrm>
            <a:off x="8257031" y="2176272"/>
            <a:ext cx="3191256" cy="292608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 REST APIs and service boundaries
• Authentication + RBAC
• Layered backend architecture
• Validation and error handling
• Notifications / real-time updates
• Scalability and maintainability</a:t>
            </a:r>
            <a:endParaRPr sz="1150" b="0">
              <a:solidFill>
                <a:srgbClr val="24273A"/>
              </a:solidFill>
              <a:latin typeface="Calibri" panose="020F0502020204030204"/>
            </a:endParaRPr>
          </a:p>
        </p:txBody>
      </p:sp>
      <p:sp>
        <p:nvSpPr>
          <p:cNvPr id="14" name="TextBox 13"/>
          <p:cNvSpPr txBox="1"/>
          <p:nvPr/>
        </p:nvSpPr>
        <p:spPr>
          <a:xfrm>
            <a:off x="640080" y="5440680"/>
            <a:ext cx="10881360" cy="502920"/>
          </a:xfrm>
          <a:prstGeom prst="rect">
            <a:avLst/>
          </a:prstGeom>
          <a:noFill/>
        </p:spPr>
        <p:txBody>
          <a:bodyPr wrap="square" lIns="27432" tIns="27432" rIns="27432" bIns="27432" anchor="ctr">
            <a:spAutoFit/>
          </a:bodyPr>
          <a:lstStyle/>
          <a:p>
            <a:pPr algn="ctr">
              <a:lnSpc>
                <a:spcPct val="100000"/>
              </a:lnSpc>
            </a:pPr>
            <a:r>
              <a:rPr sz="1400" b="1">
                <a:solidFill>
                  <a:srgbClr val="1E2761"/>
                </a:solidFill>
                <a:latin typeface="Calibri" panose="020F0502020204030204"/>
              </a:rPr>
              <a:t>Key review question: What do existing campus platforms solve well, and what remains fragmented or hidden inside proprietary systems?</a:t>
            </a:r>
            <a:endParaRPr sz="1400" b="1">
              <a:solidFill>
                <a:srgbClr val="1E2761"/>
              </a:solidFill>
              <a:latin typeface="Calibri" panose="020F0502020204030204"/>
            </a:endParaRPr>
          </a:p>
        </p:txBody>
      </p:sp>
      <p:sp>
        <p:nvSpPr>
          <p:cNvPr id="15" name="Rectangle 14"/>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Course guidance: the literature review should examine application domain, data requirements, database technology, design, performance and advanced requirements. See supplied literature-review material.</a:t>
            </a:r>
            <a:endParaRPr sz="750" b="0">
              <a:solidFill>
                <a:srgbClr val="646978"/>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02 · EXISTING SYSTEMS</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Existing Campus Platforms We Benchmarked</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We deliberately included both mature commercial platforms and open / academic implementations so the comparison covers features and engineering choices.</a:t>
            </a:r>
            <a:endParaRPr sz="1250" b="0">
              <a:solidFill>
                <a:srgbClr val="646978"/>
              </a:solidFill>
              <a:latin typeface="Calibri" panose="020F0502020204030204"/>
            </a:endParaRPr>
          </a:p>
        </p:txBody>
      </p:sp>
      <p:graphicFrame>
        <p:nvGraphicFramePr>
          <p:cNvPr id="5" name="Table 4"/>
          <p:cNvGraphicFramePr>
            <a:graphicFrameLocks noGrp="1"/>
          </p:cNvGraphicFramePr>
          <p:nvPr/>
        </p:nvGraphicFramePr>
        <p:xfrm>
          <a:off x="502920" y="1600200"/>
          <a:ext cx="11155680" cy="4389120"/>
        </p:xfrm>
        <a:graphic>
          <a:graphicData uri="http://schemas.openxmlformats.org/drawingml/2006/table">
            <a:tbl>
              <a:tblPr firstRow="1" bandRow="1">
                <a:tableStyleId>{5C22544A-7EE6-4342-B048-85BDC9FD1C3A}</a:tableStyleId>
              </a:tblPr>
              <a:tblGrid>
                <a:gridCol w="2788920"/>
                <a:gridCol w="2788920"/>
                <a:gridCol w="2788920"/>
                <a:gridCol w="2788920"/>
              </a:tblGrid>
              <a:tr h="627017">
                <a:tc>
                  <a:txBody>
                    <a:bodyPr/>
                    <a:lstStyle/>
                    <a:p>
                      <a:pPr algn="ctr"/>
                      <a:r>
                        <a:rPr sz="900" b="1">
                          <a:solidFill>
                            <a:srgbClr val="FFFFFF"/>
                          </a:solidFill>
                          <a:latin typeface="Calibri" panose="020F0502020204030204"/>
                        </a:rPr>
                        <a:t>System</a:t>
                      </a:r>
                      <a:endParaRPr sz="900" b="1">
                        <a:solidFill>
                          <a:srgbClr val="FFFFFF"/>
                        </a:solidFill>
                        <a:latin typeface="Calibri" panose="020F0502020204030204"/>
                      </a:endParaRPr>
                    </a:p>
                  </a:txBody>
                  <a:tcPr marL="45720" marR="45720" marT="27432" marB="27432">
                    <a:solidFill>
                      <a:srgbClr val="1E2761"/>
                    </a:solidFill>
                  </a:tcPr>
                </a:tc>
                <a:tc>
                  <a:txBody>
                    <a:bodyPr/>
                    <a:lstStyle/>
                    <a:p>
                      <a:pPr algn="ctr"/>
                      <a:r>
                        <a:rPr sz="900" b="1">
                          <a:solidFill>
                            <a:srgbClr val="FFFFFF"/>
                          </a:solidFill>
                          <a:latin typeface="Calibri" panose="020F0502020204030204"/>
                        </a:rPr>
                        <a:t>Primary approach</a:t>
                      </a:r>
                      <a:endParaRPr sz="900" b="1">
                        <a:solidFill>
                          <a:srgbClr val="FFFFFF"/>
                        </a:solidFill>
                        <a:latin typeface="Calibri" panose="020F0502020204030204"/>
                      </a:endParaRPr>
                    </a:p>
                  </a:txBody>
                  <a:tcPr marL="45720" marR="45720" marT="27432" marB="27432">
                    <a:solidFill>
                      <a:srgbClr val="1E2761"/>
                    </a:solidFill>
                  </a:tcPr>
                </a:tc>
                <a:tc>
                  <a:txBody>
                    <a:bodyPr/>
                    <a:lstStyle/>
                    <a:p>
                      <a:pPr algn="ctr"/>
                      <a:r>
                        <a:rPr sz="900" b="1">
                          <a:solidFill>
                            <a:srgbClr val="FFFFFF"/>
                          </a:solidFill>
                          <a:latin typeface="Calibri" panose="020F0502020204030204"/>
                        </a:rPr>
                        <a:t>Relevant features</a:t>
                      </a:r>
                      <a:endParaRPr sz="900" b="1">
                        <a:solidFill>
                          <a:srgbClr val="FFFFFF"/>
                        </a:solidFill>
                        <a:latin typeface="Calibri" panose="020F0502020204030204"/>
                      </a:endParaRPr>
                    </a:p>
                  </a:txBody>
                  <a:tcPr marL="45720" marR="45720" marT="27432" marB="27432">
                    <a:solidFill>
                      <a:srgbClr val="1E2761"/>
                    </a:solidFill>
                  </a:tcPr>
                </a:tc>
                <a:tc>
                  <a:txBody>
                    <a:bodyPr/>
                    <a:lstStyle/>
                    <a:p>
                      <a:pPr algn="ctr"/>
                      <a:r>
                        <a:rPr sz="900" b="1">
                          <a:solidFill>
                            <a:srgbClr val="FFFFFF"/>
                          </a:solidFill>
                          <a:latin typeface="Calibri" panose="020F0502020204030204"/>
                        </a:rPr>
                        <a:t>Technology / architecture</a:t>
                      </a:r>
                      <a:endParaRPr sz="900" b="1">
                        <a:solidFill>
                          <a:srgbClr val="FFFFFF"/>
                        </a:solidFill>
                        <a:latin typeface="Calibri" panose="020F0502020204030204"/>
                      </a:endParaRPr>
                    </a:p>
                  </a:txBody>
                  <a:tcPr marL="45720" marR="45720" marT="27432" marB="27432">
                    <a:solidFill>
                      <a:srgbClr val="1E2761"/>
                    </a:solidFill>
                  </a:tcPr>
                </a:tc>
              </a:tr>
              <a:tr h="627017">
                <a:tc>
                  <a:txBody>
                    <a:bodyPr/>
                    <a:lstStyle/>
                    <a:p>
                      <a:pPr algn="l"/>
                      <a:r>
                        <a:rPr sz="830">
                          <a:solidFill>
                            <a:srgbClr val="24273A"/>
                          </a:solidFill>
                          <a:latin typeface="Calibri" panose="020F0502020204030204"/>
                        </a:rPr>
                        <a:t>CampusGroups</a:t>
                      </a:r>
                      <a:endParaRPr sz="830">
                        <a:solidFill>
                          <a:srgbClr val="24273A"/>
                        </a:solidFill>
                        <a:latin typeface="Calibri" panose="020F0502020204030204"/>
                      </a:endParaRPr>
                    </a:p>
                  </a:txBody>
                  <a:tcPr marL="45720" marR="45720" marT="27432" marB="27432">
                    <a:solidFill>
                      <a:srgbClr val="F4F7FC"/>
                    </a:solidFill>
                  </a:tcPr>
                </a:tc>
                <a:tc>
                  <a:txBody>
                    <a:bodyPr/>
                    <a:lstStyle/>
                    <a:p>
                      <a:pPr algn="l"/>
                      <a:r>
                        <a:rPr sz="830">
                          <a:solidFill>
                            <a:srgbClr val="24273A"/>
                          </a:solidFill>
                          <a:latin typeface="Calibri" panose="020F0502020204030204"/>
                        </a:rPr>
                        <a:t>All-in-one campus engagement</a:t>
                      </a:r>
                      <a:endParaRPr sz="830">
                        <a:solidFill>
                          <a:srgbClr val="24273A"/>
                        </a:solidFill>
                        <a:latin typeface="Calibri" panose="020F0502020204030204"/>
                      </a:endParaRPr>
                    </a:p>
                  </a:txBody>
                  <a:tcPr marL="45720" marR="45720" marT="27432" marB="27432">
                    <a:solidFill>
                      <a:srgbClr val="F4F7FC"/>
                    </a:solidFill>
                  </a:tcPr>
                </a:tc>
                <a:tc>
                  <a:txBody>
                    <a:bodyPr/>
                    <a:lstStyle/>
                    <a:p>
                      <a:pPr algn="l"/>
                      <a:r>
                        <a:rPr sz="830">
                          <a:solidFill>
                            <a:srgbClr val="24273A"/>
                          </a:solidFill>
                          <a:latin typeface="Calibri" panose="020F0502020204030204"/>
                        </a:rPr>
                        <a:t>Clubs, events, marketplace, stores, inventory, chat</a:t>
                      </a:r>
                      <a:endParaRPr sz="830">
                        <a:solidFill>
                          <a:srgbClr val="24273A"/>
                        </a:solidFill>
                        <a:latin typeface="Calibri" panose="020F0502020204030204"/>
                      </a:endParaRPr>
                    </a:p>
                  </a:txBody>
                  <a:tcPr marL="45720" marR="45720" marT="27432" marB="27432">
                    <a:solidFill>
                      <a:srgbClr val="F4F7FC"/>
                    </a:solidFill>
                  </a:tcPr>
                </a:tc>
                <a:tc>
                  <a:txBody>
                    <a:bodyPr/>
                    <a:lstStyle/>
                    <a:p>
                      <a:pPr algn="l"/>
                      <a:r>
                        <a:rPr sz="830">
                          <a:solidFill>
                            <a:srgbClr val="24273A"/>
                          </a:solidFill>
                          <a:latin typeface="Calibri" panose="020F0502020204030204"/>
                        </a:rPr>
                        <a:t>React Native mobile; full backend not publicly disclosed</a:t>
                      </a:r>
                      <a:endParaRPr sz="830">
                        <a:solidFill>
                          <a:srgbClr val="24273A"/>
                        </a:solidFill>
                        <a:latin typeface="Calibri" panose="020F0502020204030204"/>
                      </a:endParaRPr>
                    </a:p>
                  </a:txBody>
                  <a:tcPr marL="45720" marR="45720" marT="27432" marB="27432">
                    <a:solidFill>
                      <a:srgbClr val="F4F7FC"/>
                    </a:solidFill>
                  </a:tcPr>
                </a:tc>
              </a:tr>
              <a:tr h="627017">
                <a:tc>
                  <a:txBody>
                    <a:bodyPr/>
                    <a:lstStyle/>
                    <a:p>
                      <a:pPr algn="l"/>
                      <a:r>
                        <a:rPr sz="830">
                          <a:solidFill>
                            <a:srgbClr val="24273A"/>
                          </a:solidFill>
                          <a:latin typeface="Calibri" panose="020F0502020204030204"/>
                        </a:rPr>
                        <a:t>Anthology Engage</a:t>
                      </a:r>
                      <a:endParaRPr sz="830">
                        <a:solidFill>
                          <a:srgbClr val="24273A"/>
                        </a:solidFill>
                        <a:latin typeface="Calibri" panose="020F0502020204030204"/>
                      </a:endParaRPr>
                    </a:p>
                  </a:txBody>
                  <a:tcPr marL="45720" marR="45720" marT="27432" marB="27432">
                    <a:solidFill>
                      <a:srgbClr val="FFFFFF"/>
                    </a:solidFill>
                  </a:tcPr>
                </a:tc>
                <a:tc>
                  <a:txBody>
                    <a:bodyPr/>
                    <a:lstStyle/>
                    <a:p>
                      <a:pPr algn="l"/>
                      <a:r>
                        <a:rPr sz="830">
                          <a:solidFill>
                            <a:srgbClr val="24273A"/>
                          </a:solidFill>
                          <a:latin typeface="Calibri" panose="020F0502020204030204"/>
                        </a:rPr>
                        <a:t>Student engagement / org management</a:t>
                      </a:r>
                      <a:endParaRPr sz="830">
                        <a:solidFill>
                          <a:srgbClr val="24273A"/>
                        </a:solidFill>
                        <a:latin typeface="Calibri" panose="020F0502020204030204"/>
                      </a:endParaRPr>
                    </a:p>
                  </a:txBody>
                  <a:tcPr marL="45720" marR="45720" marT="27432" marB="27432">
                    <a:solidFill>
                      <a:srgbClr val="FFFFFF"/>
                    </a:solidFill>
                  </a:tcPr>
                </a:tc>
                <a:tc>
                  <a:txBody>
                    <a:bodyPr/>
                    <a:lstStyle/>
                    <a:p>
                      <a:pPr algn="l"/>
                      <a:r>
                        <a:rPr sz="830">
                          <a:solidFill>
                            <a:srgbClr val="24273A"/>
                          </a:solidFill>
                          <a:latin typeface="Calibri" panose="020F0502020204030204"/>
                        </a:rPr>
                        <a:t>Organizations, events, forms, elections, finance, service hours</a:t>
                      </a:r>
                      <a:endParaRPr sz="830">
                        <a:solidFill>
                          <a:srgbClr val="24273A"/>
                        </a:solidFill>
                        <a:latin typeface="Calibri" panose="020F0502020204030204"/>
                      </a:endParaRPr>
                    </a:p>
                  </a:txBody>
                  <a:tcPr marL="45720" marR="45720" marT="27432" marB="27432">
                    <a:solidFill>
                      <a:srgbClr val="FFFFFF"/>
                    </a:solidFill>
                  </a:tcPr>
                </a:tc>
                <a:tc>
                  <a:txBody>
                    <a:bodyPr/>
                    <a:lstStyle/>
                    <a:p>
                      <a:pPr algn="l"/>
                      <a:r>
                        <a:rPr sz="830">
                          <a:solidFill>
                            <a:srgbClr val="24273A"/>
                          </a:solidFill>
                          <a:latin typeface="Calibri" panose="020F0502020204030204"/>
                        </a:rPr>
                        <a:t>SaaS platform; full backend/DB stack not publicly disclosed</a:t>
                      </a:r>
                      <a:endParaRPr sz="830">
                        <a:solidFill>
                          <a:srgbClr val="24273A"/>
                        </a:solidFill>
                        <a:latin typeface="Calibri" panose="020F0502020204030204"/>
                      </a:endParaRPr>
                    </a:p>
                  </a:txBody>
                  <a:tcPr marL="45720" marR="45720" marT="27432" marB="27432">
                    <a:solidFill>
                      <a:srgbClr val="FFFFFF"/>
                    </a:solidFill>
                  </a:tcPr>
                </a:tc>
              </a:tr>
              <a:tr h="627017">
                <a:tc>
                  <a:txBody>
                    <a:bodyPr/>
                    <a:lstStyle/>
                    <a:p>
                      <a:pPr algn="l"/>
                      <a:r>
                        <a:rPr sz="830">
                          <a:solidFill>
                            <a:srgbClr val="24273A"/>
                          </a:solidFill>
                          <a:latin typeface="Calibri" panose="020F0502020204030204"/>
                        </a:rPr>
                        <a:t>Suitable</a:t>
                      </a:r>
                      <a:endParaRPr sz="830">
                        <a:solidFill>
                          <a:srgbClr val="24273A"/>
                        </a:solidFill>
                        <a:latin typeface="Calibri" panose="020F0502020204030204"/>
                      </a:endParaRPr>
                    </a:p>
                  </a:txBody>
                  <a:tcPr marL="45720" marR="45720" marT="27432" marB="27432">
                    <a:solidFill>
                      <a:srgbClr val="F4F7FC"/>
                    </a:solidFill>
                  </a:tcPr>
                </a:tc>
                <a:tc>
                  <a:txBody>
                    <a:bodyPr/>
                    <a:lstStyle/>
                    <a:p>
                      <a:pPr algn="l"/>
                      <a:r>
                        <a:rPr sz="830">
                          <a:solidFill>
                            <a:srgbClr val="24273A"/>
                          </a:solidFill>
                          <a:latin typeface="Calibri" panose="020F0502020204030204"/>
                        </a:rPr>
                        <a:t>Student engagement &amp; success</a:t>
                      </a:r>
                      <a:endParaRPr sz="830">
                        <a:solidFill>
                          <a:srgbClr val="24273A"/>
                        </a:solidFill>
                        <a:latin typeface="Calibri" panose="020F0502020204030204"/>
                      </a:endParaRPr>
                    </a:p>
                  </a:txBody>
                  <a:tcPr marL="45720" marR="45720" marT="27432" marB="27432">
                    <a:solidFill>
                      <a:srgbClr val="F4F7FC"/>
                    </a:solidFill>
                  </a:tcPr>
                </a:tc>
                <a:tc>
                  <a:txBody>
                    <a:bodyPr/>
                    <a:lstStyle/>
                    <a:p>
                      <a:pPr algn="l"/>
                      <a:r>
                        <a:rPr sz="830">
                          <a:solidFill>
                            <a:srgbClr val="24273A"/>
                          </a:solidFill>
                          <a:latin typeface="Calibri" panose="020F0502020204030204"/>
                        </a:rPr>
                        <a:t>Organizations, events, service hours, gamification, analytics</a:t>
                      </a:r>
                      <a:endParaRPr sz="830">
                        <a:solidFill>
                          <a:srgbClr val="24273A"/>
                        </a:solidFill>
                        <a:latin typeface="Calibri" panose="020F0502020204030204"/>
                      </a:endParaRPr>
                    </a:p>
                  </a:txBody>
                  <a:tcPr marL="45720" marR="45720" marT="27432" marB="27432">
                    <a:solidFill>
                      <a:srgbClr val="F4F7FC"/>
                    </a:solidFill>
                  </a:tcPr>
                </a:tc>
                <a:tc>
                  <a:txBody>
                    <a:bodyPr/>
                    <a:lstStyle/>
                    <a:p>
                      <a:pPr algn="l"/>
                      <a:r>
                        <a:rPr sz="830">
                          <a:solidFill>
                            <a:srgbClr val="24273A"/>
                          </a:solidFill>
                          <a:latin typeface="Calibri" panose="020F0502020204030204"/>
                        </a:rPr>
                        <a:t>Commercial platform; backend stack not publicly disclosed</a:t>
                      </a:r>
                      <a:endParaRPr sz="830">
                        <a:solidFill>
                          <a:srgbClr val="24273A"/>
                        </a:solidFill>
                        <a:latin typeface="Calibri" panose="020F0502020204030204"/>
                      </a:endParaRPr>
                    </a:p>
                  </a:txBody>
                  <a:tcPr marL="45720" marR="45720" marT="27432" marB="27432">
                    <a:solidFill>
                      <a:srgbClr val="F4F7FC"/>
                    </a:solidFill>
                  </a:tcPr>
                </a:tc>
              </a:tr>
              <a:tr h="627017">
                <a:tc>
                  <a:txBody>
                    <a:bodyPr/>
                    <a:lstStyle/>
                    <a:p>
                      <a:pPr algn="l"/>
                      <a:r>
                        <a:rPr sz="830">
                          <a:solidFill>
                            <a:srgbClr val="24273A"/>
                          </a:solidFill>
                          <a:latin typeface="Calibri" panose="020F0502020204030204"/>
                        </a:rPr>
                        <a:t>CampusNexus</a:t>
                      </a:r>
                      <a:endParaRPr sz="830">
                        <a:solidFill>
                          <a:srgbClr val="24273A"/>
                        </a:solidFill>
                        <a:latin typeface="Calibri" panose="020F0502020204030204"/>
                      </a:endParaRPr>
                    </a:p>
                  </a:txBody>
                  <a:tcPr marL="45720" marR="45720" marT="27432" marB="27432">
                    <a:solidFill>
                      <a:srgbClr val="FFFFFF"/>
                    </a:solidFill>
                  </a:tcPr>
                </a:tc>
                <a:tc>
                  <a:txBody>
                    <a:bodyPr/>
                    <a:lstStyle/>
                    <a:p>
                      <a:pPr algn="l"/>
                      <a:r>
                        <a:rPr sz="830">
                          <a:solidFill>
                            <a:srgbClr val="24273A"/>
                          </a:solidFill>
                          <a:latin typeface="Calibri" panose="020F0502020204030204"/>
                        </a:rPr>
                        <a:t>Multi-college campus management</a:t>
                      </a:r>
                      <a:endParaRPr sz="830">
                        <a:solidFill>
                          <a:srgbClr val="24273A"/>
                        </a:solidFill>
                        <a:latin typeface="Calibri" panose="020F0502020204030204"/>
                      </a:endParaRPr>
                    </a:p>
                  </a:txBody>
                  <a:tcPr marL="45720" marR="45720" marT="27432" marB="27432">
                    <a:solidFill>
                      <a:srgbClr val="FFFFFF"/>
                    </a:solidFill>
                  </a:tcPr>
                </a:tc>
                <a:tc>
                  <a:txBody>
                    <a:bodyPr/>
                    <a:lstStyle/>
                    <a:p>
                      <a:pPr algn="l"/>
                      <a:r>
                        <a:rPr sz="830">
                          <a:solidFill>
                            <a:srgbClr val="24273A"/>
                          </a:solidFill>
                          <a:latin typeface="Calibri" panose="020F0502020204030204"/>
                        </a:rPr>
                        <a:t>Events, clubs, broadcast, timetabling, student progress</a:t>
                      </a:r>
                      <a:endParaRPr sz="830">
                        <a:solidFill>
                          <a:srgbClr val="24273A"/>
                        </a:solidFill>
                        <a:latin typeface="Calibri" panose="020F0502020204030204"/>
                      </a:endParaRPr>
                    </a:p>
                  </a:txBody>
                  <a:tcPr marL="45720" marR="45720" marT="27432" marB="27432">
                    <a:solidFill>
                      <a:srgbClr val="FFFFFF"/>
                    </a:solidFill>
                  </a:tcPr>
                </a:tc>
                <a:tc>
                  <a:txBody>
                    <a:bodyPr/>
                    <a:lstStyle/>
                    <a:p>
                      <a:pPr algn="l"/>
                      <a:r>
                        <a:rPr sz="830">
                          <a:solidFill>
                            <a:srgbClr val="24273A"/>
                          </a:solidFill>
                          <a:latin typeface="Calibri" panose="020F0502020204030204"/>
                        </a:rPr>
                        <a:t>Spring Boot + Java 17 + React 18 + PostgreSQL + Firebase + Stripe</a:t>
                      </a:r>
                      <a:endParaRPr sz="830">
                        <a:solidFill>
                          <a:srgbClr val="24273A"/>
                        </a:solidFill>
                        <a:latin typeface="Calibri" panose="020F0502020204030204"/>
                      </a:endParaRPr>
                    </a:p>
                  </a:txBody>
                  <a:tcPr marL="45720" marR="45720" marT="27432" marB="27432">
                    <a:solidFill>
                      <a:srgbClr val="FFFFFF"/>
                    </a:solidFill>
                  </a:tcPr>
                </a:tc>
              </a:tr>
              <a:tr h="627017">
                <a:tc>
                  <a:txBody>
                    <a:bodyPr/>
                    <a:lstStyle/>
                    <a:p>
                      <a:pPr algn="l"/>
                      <a:r>
                        <a:rPr sz="830">
                          <a:solidFill>
                            <a:srgbClr val="24273A"/>
                          </a:solidFill>
                          <a:latin typeface="Calibri" panose="020F0502020204030204"/>
                        </a:rPr>
                        <a:t>Smart Campus Utility Hub</a:t>
                      </a:r>
                      <a:endParaRPr sz="830">
                        <a:solidFill>
                          <a:srgbClr val="24273A"/>
                        </a:solidFill>
                        <a:latin typeface="Calibri" panose="020F0502020204030204"/>
                      </a:endParaRPr>
                    </a:p>
                  </a:txBody>
                  <a:tcPr marL="45720" marR="45720" marT="27432" marB="27432">
                    <a:solidFill>
                      <a:srgbClr val="F4F7FC"/>
                    </a:solidFill>
                  </a:tcPr>
                </a:tc>
                <a:tc>
                  <a:txBody>
                    <a:bodyPr/>
                    <a:lstStyle/>
                    <a:p>
                      <a:pPr algn="l"/>
                      <a:r>
                        <a:rPr sz="830">
                          <a:solidFill>
                            <a:srgbClr val="24273A"/>
                          </a:solidFill>
                          <a:latin typeface="Calibri" panose="020F0502020204030204"/>
                        </a:rPr>
                        <a:t>Open campus utility platform</a:t>
                      </a:r>
                      <a:endParaRPr sz="830">
                        <a:solidFill>
                          <a:srgbClr val="24273A"/>
                        </a:solidFill>
                        <a:latin typeface="Calibri" panose="020F0502020204030204"/>
                      </a:endParaRPr>
                    </a:p>
                  </a:txBody>
                  <a:tcPr marL="45720" marR="45720" marT="27432" marB="27432">
                    <a:solidFill>
                      <a:srgbClr val="F4F7FC"/>
                    </a:solidFill>
                  </a:tcPr>
                </a:tc>
                <a:tc>
                  <a:txBody>
                    <a:bodyPr/>
                    <a:lstStyle/>
                    <a:p>
                      <a:pPr algn="l"/>
                      <a:r>
                        <a:rPr sz="830">
                          <a:solidFill>
                            <a:srgbClr val="24273A"/>
                          </a:solidFill>
                          <a:latin typeface="Calibri" panose="020F0502020204030204"/>
                        </a:rPr>
                        <a:t>Timetable, elective allocation, events</a:t>
                      </a:r>
                      <a:endParaRPr sz="830">
                        <a:solidFill>
                          <a:srgbClr val="24273A"/>
                        </a:solidFill>
                        <a:latin typeface="Calibri" panose="020F0502020204030204"/>
                      </a:endParaRPr>
                    </a:p>
                  </a:txBody>
                  <a:tcPr marL="45720" marR="45720" marT="27432" marB="27432">
                    <a:solidFill>
                      <a:srgbClr val="F4F7FC"/>
                    </a:solidFill>
                  </a:tcPr>
                </a:tc>
                <a:tc>
                  <a:txBody>
                    <a:bodyPr/>
                    <a:lstStyle/>
                    <a:p>
                      <a:pPr algn="l"/>
                      <a:r>
                        <a:rPr sz="830">
                          <a:solidFill>
                            <a:srgbClr val="24273A"/>
                          </a:solidFill>
                          <a:latin typeface="Calibri" panose="020F0502020204030204"/>
                        </a:rPr>
                        <a:t>React + Node.js/Express + PostgreSQL + JWT</a:t>
                      </a:r>
                      <a:endParaRPr sz="830">
                        <a:solidFill>
                          <a:srgbClr val="24273A"/>
                        </a:solidFill>
                        <a:latin typeface="Calibri" panose="020F0502020204030204"/>
                      </a:endParaRPr>
                    </a:p>
                  </a:txBody>
                  <a:tcPr marL="45720" marR="45720" marT="27432" marB="27432">
                    <a:solidFill>
                      <a:srgbClr val="F4F7FC"/>
                    </a:solidFill>
                  </a:tcPr>
                </a:tc>
              </a:tr>
              <a:tr h="627018">
                <a:tc>
                  <a:txBody>
                    <a:bodyPr/>
                    <a:lstStyle/>
                    <a:p>
                      <a:pPr algn="l"/>
                      <a:r>
                        <a:rPr sz="830">
                          <a:solidFill>
                            <a:srgbClr val="24273A"/>
                          </a:solidFill>
                          <a:latin typeface="Calibri" panose="020F0502020204030204"/>
                        </a:rPr>
                        <a:t>Campus Lost &amp; Found</a:t>
                      </a:r>
                      <a:endParaRPr sz="830">
                        <a:solidFill>
                          <a:srgbClr val="24273A"/>
                        </a:solidFill>
                        <a:latin typeface="Calibri" panose="020F0502020204030204"/>
                      </a:endParaRPr>
                    </a:p>
                  </a:txBody>
                  <a:tcPr marL="45720" marR="45720" marT="27432" marB="27432">
                    <a:solidFill>
                      <a:srgbClr val="FFFFFF"/>
                    </a:solidFill>
                  </a:tcPr>
                </a:tc>
                <a:tc>
                  <a:txBody>
                    <a:bodyPr/>
                    <a:lstStyle/>
                    <a:p>
                      <a:pPr algn="l"/>
                      <a:r>
                        <a:rPr sz="830">
                          <a:solidFill>
                            <a:srgbClr val="24273A"/>
                          </a:solidFill>
                          <a:latin typeface="Calibri" panose="020F0502020204030204"/>
                        </a:rPr>
                        <a:t>Specialized lost/found system</a:t>
                      </a:r>
                      <a:endParaRPr sz="830">
                        <a:solidFill>
                          <a:srgbClr val="24273A"/>
                        </a:solidFill>
                        <a:latin typeface="Calibri" panose="020F0502020204030204"/>
                      </a:endParaRPr>
                    </a:p>
                  </a:txBody>
                  <a:tcPr marL="45720" marR="45720" marT="27432" marB="27432">
                    <a:solidFill>
                      <a:srgbClr val="FFFFFF"/>
                    </a:solidFill>
                  </a:tcPr>
                </a:tc>
                <a:tc>
                  <a:txBody>
                    <a:bodyPr/>
                    <a:lstStyle/>
                    <a:p>
                      <a:pPr algn="l"/>
                      <a:r>
                        <a:rPr sz="830">
                          <a:solidFill>
                            <a:srgbClr val="24273A"/>
                          </a:solidFill>
                          <a:latin typeface="Calibri" panose="020F0502020204030204"/>
                        </a:rPr>
                        <a:t>Lost/found reports, claims, notifications, marketplace</a:t>
                      </a:r>
                      <a:endParaRPr sz="830">
                        <a:solidFill>
                          <a:srgbClr val="24273A"/>
                        </a:solidFill>
                        <a:latin typeface="Calibri" panose="020F0502020204030204"/>
                      </a:endParaRPr>
                    </a:p>
                  </a:txBody>
                  <a:tcPr marL="45720" marR="45720" marT="27432" marB="27432">
                    <a:solidFill>
                      <a:srgbClr val="FFFFFF"/>
                    </a:solidFill>
                  </a:tcPr>
                </a:tc>
                <a:tc>
                  <a:txBody>
                    <a:bodyPr/>
                    <a:lstStyle/>
                    <a:p>
                      <a:pPr algn="l"/>
                      <a:r>
                        <a:rPr sz="830">
                          <a:solidFill>
                            <a:srgbClr val="24273A"/>
                          </a:solidFill>
                          <a:latin typeface="Calibri" panose="020F0502020204030204"/>
                        </a:rPr>
                        <a:t>React + Node.js/Express + MySQL</a:t>
                      </a:r>
                      <a:endParaRPr sz="830">
                        <a:solidFill>
                          <a:srgbClr val="24273A"/>
                        </a:solidFill>
                        <a:latin typeface="Calibri" panose="020F0502020204030204"/>
                      </a:endParaRPr>
                    </a:p>
                  </a:txBody>
                  <a:tcPr marL="45720" marR="45720" marT="27432" marB="27432">
                    <a:solidFill>
                      <a:srgbClr val="FFFFFF"/>
                    </a:solidFill>
                  </a:tcPr>
                </a:tc>
              </a:tr>
            </a:tbl>
          </a:graphicData>
        </a:graphic>
      </p:graphicFrame>
      <p:sp>
        <p:nvSpPr>
          <p:cNvPr id="6" name="TextBox 5"/>
          <p:cNvSpPr txBox="1"/>
          <p:nvPr/>
        </p:nvSpPr>
        <p:spPr>
          <a:xfrm>
            <a:off x="594360" y="6099048"/>
            <a:ext cx="10972800" cy="292608"/>
          </a:xfrm>
          <a:prstGeom prst="rect">
            <a:avLst/>
          </a:prstGeom>
          <a:noFill/>
        </p:spPr>
        <p:txBody>
          <a:bodyPr wrap="square" lIns="27432" tIns="27432" rIns="27432" bIns="27432" anchor="t">
            <a:spAutoFit/>
          </a:bodyPr>
          <a:lstStyle/>
          <a:p>
            <a:pPr algn="ctr">
              <a:lnSpc>
                <a:spcPct val="100000"/>
              </a:lnSpc>
            </a:pPr>
            <a:r>
              <a:rPr sz="1050" b="1">
                <a:solidFill>
                  <a:srgbClr val="028090"/>
                </a:solidFill>
                <a:latin typeface="Calibri" panose="020F0502020204030204"/>
              </a:rPr>
              <a:t>Observation: mature platforms are feature-rich but proprietary; open implementations expose their engineering choices but usually solve only part of the campus problem.</a:t>
            </a:r>
            <a:endParaRPr sz="1050" b="1">
              <a:solidFill>
                <a:srgbClr val="028090"/>
              </a:solidFill>
              <a:latin typeface="Calibri" panose="020F0502020204030204"/>
            </a:endParaRPr>
          </a:p>
        </p:txBody>
      </p:sp>
      <p:sp>
        <p:nvSpPr>
          <p:cNvPr id="7" name="Rectangle 6"/>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Sources [1]–[6]. Full source list is on Slide 13.</a:t>
            </a:r>
            <a:endParaRPr sz="750" b="0">
              <a:solidFill>
                <a:srgbClr val="646978"/>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03 · EXISTING SYSTEM 1</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CampusGroups</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Strongest benchmark for the 'one-stop campus platform' idea.</a:t>
            </a:r>
            <a:endParaRPr sz="1250" b="0">
              <a:solidFill>
                <a:srgbClr val="646978"/>
              </a:solidFill>
              <a:latin typeface="Calibri" panose="020F0502020204030204"/>
            </a:endParaRPr>
          </a:p>
        </p:txBody>
      </p:sp>
      <p:sp>
        <p:nvSpPr>
          <p:cNvPr id="5" name="Rounded Rectangle 4"/>
          <p:cNvSpPr/>
          <p:nvPr/>
        </p:nvSpPr>
        <p:spPr>
          <a:xfrm>
            <a:off x="594360" y="1508760"/>
            <a:ext cx="3520440" cy="438912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What it provides</a:t>
            </a:r>
            <a:endParaRPr sz="1500" b="1">
              <a:solidFill>
                <a:srgbClr val="1E2761"/>
              </a:solidFill>
              <a:latin typeface="Calibri" panose="020F0502020204030204"/>
            </a:endParaRPr>
          </a:p>
        </p:txBody>
      </p:sp>
      <p:sp>
        <p:nvSpPr>
          <p:cNvPr id="7" name="TextBox 6"/>
          <p:cNvSpPr txBox="1"/>
          <p:nvPr/>
        </p:nvSpPr>
        <p:spPr>
          <a:xfrm>
            <a:off x="758952" y="1993391"/>
            <a:ext cx="3191256" cy="3794759"/>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 30+ configurable modules
• Groups &amp; membership
• Central events calendar + registration
• Attendance / QR / ID check-in
• Chat, email and notifications
• Marketplace and stores
• Inventory and room reservations
• Analytics, reports and integrations</a:t>
            </a:r>
            <a:endParaRPr sz="1150" b="0">
              <a:solidFill>
                <a:srgbClr val="24273A"/>
              </a:solidFill>
              <a:latin typeface="Calibri" panose="020F0502020204030204"/>
            </a:endParaRPr>
          </a:p>
        </p:txBody>
      </p:sp>
      <p:sp>
        <p:nvSpPr>
          <p:cNvPr id="8" name="Rounded Rectangle 7"/>
          <p:cNvSpPr/>
          <p:nvPr/>
        </p:nvSpPr>
        <p:spPr>
          <a:xfrm>
            <a:off x="4343400" y="1508760"/>
            <a:ext cx="3520440" cy="438912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Approach &amp; stack evidence</a:t>
            </a:r>
            <a:endParaRPr sz="1500" b="1">
              <a:solidFill>
                <a:srgbClr val="1E2761"/>
              </a:solidFill>
              <a:latin typeface="Calibri" panose="020F0502020204030204"/>
            </a:endParaRPr>
          </a:p>
        </p:txBody>
      </p:sp>
      <p:sp>
        <p:nvSpPr>
          <p:cNvPr id="10" name="TextBox 9"/>
          <p:cNvSpPr txBox="1"/>
          <p:nvPr/>
        </p:nvSpPr>
        <p:spPr>
          <a:xfrm>
            <a:off x="4507992" y="1993391"/>
            <a:ext cx="3191256" cy="3794759"/>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Architecture: centralized, configurable campus platform with many modules.
Publicly stated mobile detail: the revamped mobile app uses React Native.
Backend/database implementation is not disclosed on the reviewed product pages, so we do not guess it.</a:t>
            </a:r>
            <a:endParaRPr sz="1150" b="0">
              <a:solidFill>
                <a:srgbClr val="24273A"/>
              </a:solidFill>
              <a:latin typeface="Calibri" panose="020F0502020204030204"/>
            </a:endParaRPr>
          </a:p>
        </p:txBody>
      </p:sp>
      <p:sp>
        <p:nvSpPr>
          <p:cNvPr id="11" name="Rounded Rectangle 10"/>
          <p:cNvSpPr/>
          <p:nvPr/>
        </p:nvSpPr>
        <p:spPr>
          <a:xfrm>
            <a:off x="8092440" y="1508760"/>
            <a:ext cx="3520440" cy="438912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Critical observation for us</a:t>
            </a:r>
            <a:endParaRPr sz="1500" b="1">
              <a:solidFill>
                <a:srgbClr val="1E2761"/>
              </a:solidFill>
              <a:latin typeface="Calibri" panose="020F0502020204030204"/>
            </a:endParaRPr>
          </a:p>
        </p:txBody>
      </p:sp>
      <p:sp>
        <p:nvSpPr>
          <p:cNvPr id="13" name="TextBox 12"/>
          <p:cNvSpPr txBox="1"/>
          <p:nvPr/>
        </p:nvSpPr>
        <p:spPr>
          <a:xfrm>
            <a:off x="8257031" y="1993391"/>
            <a:ext cx="3191256" cy="3794759"/>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Strength: very broad feature coverage and mature workflows.
Limitation for our project: it is a large commercial ecosystem; internal database schema, transactions, indexing and API implementation are not available for study.
CampusConnect can expose and demonstrate these DB/backend decisions directly.</a:t>
            </a:r>
            <a:endParaRPr sz="1150" b="0">
              <a:solidFill>
                <a:srgbClr val="24273A"/>
              </a:solidFill>
              <a:latin typeface="Calibri" panose="020F0502020204030204"/>
            </a:endParaRPr>
          </a:p>
        </p:txBody>
      </p:sp>
      <p:sp>
        <p:nvSpPr>
          <p:cNvPr id="14" name="Rectangle 13"/>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Source [1]: CampusGroups official product pages and mobile-app documentation.</a:t>
            </a:r>
            <a:endParaRPr sz="750" b="0">
              <a:solidFill>
                <a:srgbClr val="646978"/>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03 · EXISTING SYSTEM 2</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Anthology Engage</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A mature student-organization and event-management platform.</a:t>
            </a:r>
            <a:endParaRPr sz="1250" b="0">
              <a:solidFill>
                <a:srgbClr val="646978"/>
              </a:solidFill>
              <a:latin typeface="Calibri" panose="020F0502020204030204"/>
            </a:endParaRPr>
          </a:p>
        </p:txBody>
      </p:sp>
      <p:sp>
        <p:nvSpPr>
          <p:cNvPr id="5" name="Rounded Rectangle 4"/>
          <p:cNvSpPr/>
          <p:nvPr/>
        </p:nvSpPr>
        <p:spPr>
          <a:xfrm>
            <a:off x="594360" y="1508760"/>
            <a:ext cx="3520440" cy="438912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What it provides</a:t>
            </a:r>
            <a:endParaRPr sz="1500" b="1">
              <a:solidFill>
                <a:srgbClr val="1E2761"/>
              </a:solidFill>
              <a:latin typeface="Calibri" panose="020F0502020204030204"/>
            </a:endParaRPr>
          </a:p>
        </p:txBody>
      </p:sp>
      <p:sp>
        <p:nvSpPr>
          <p:cNvPr id="7" name="TextBox 6"/>
          <p:cNvSpPr txBox="1"/>
          <p:nvPr/>
        </p:nvSpPr>
        <p:spPr>
          <a:xfrm>
            <a:off x="758952" y="1993391"/>
            <a:ext cx="3191256" cy="3794759"/>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 Student organization discovery
• Membership requests and rosters
• Event creation, RSVP and attendance
• News / communication
• Forms and documents
• Elections
• Finance tools
• Service-hour tracking
• Administrative branches and permissions</a:t>
            </a:r>
            <a:endParaRPr sz="1150" b="0">
              <a:solidFill>
                <a:srgbClr val="24273A"/>
              </a:solidFill>
              <a:latin typeface="Calibri" panose="020F0502020204030204"/>
            </a:endParaRPr>
          </a:p>
        </p:txBody>
      </p:sp>
      <p:sp>
        <p:nvSpPr>
          <p:cNvPr id="8" name="Rounded Rectangle 7"/>
          <p:cNvSpPr/>
          <p:nvPr/>
        </p:nvSpPr>
        <p:spPr>
          <a:xfrm>
            <a:off x="4343400" y="1508760"/>
            <a:ext cx="3520440" cy="438912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Approach</a:t>
            </a:r>
            <a:endParaRPr sz="1500" b="1">
              <a:solidFill>
                <a:srgbClr val="1E2761"/>
              </a:solidFill>
              <a:latin typeface="Calibri" panose="020F0502020204030204"/>
            </a:endParaRPr>
          </a:p>
        </p:txBody>
      </p:sp>
      <p:sp>
        <p:nvSpPr>
          <p:cNvPr id="10" name="TextBox 9"/>
          <p:cNvSpPr txBox="1"/>
          <p:nvPr/>
        </p:nvSpPr>
        <p:spPr>
          <a:xfrm>
            <a:off x="4507992" y="1993391"/>
            <a:ext cx="3191256" cy="3794759"/>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Role-based campus community model:
Community → Branches / Departments → Organizations → Users
This creates separation of administrative responsibilities while keeping organization and event data inside one platform.</a:t>
            </a:r>
            <a:endParaRPr sz="1150" b="0">
              <a:solidFill>
                <a:srgbClr val="24273A"/>
              </a:solidFill>
              <a:latin typeface="Calibri" panose="020F0502020204030204"/>
            </a:endParaRPr>
          </a:p>
        </p:txBody>
      </p:sp>
      <p:sp>
        <p:nvSpPr>
          <p:cNvPr id="11" name="Rounded Rectangle 10"/>
          <p:cNvSpPr/>
          <p:nvPr/>
        </p:nvSpPr>
        <p:spPr>
          <a:xfrm>
            <a:off x="8092440" y="1508760"/>
            <a:ext cx="3520440" cy="438912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Critical observation for us</a:t>
            </a:r>
            <a:endParaRPr sz="1500" b="1">
              <a:solidFill>
                <a:srgbClr val="1E2761"/>
              </a:solidFill>
              <a:latin typeface="Calibri" panose="020F0502020204030204"/>
            </a:endParaRPr>
          </a:p>
        </p:txBody>
      </p:sp>
      <p:sp>
        <p:nvSpPr>
          <p:cNvPr id="13" name="TextBox 12"/>
          <p:cNvSpPr txBox="1"/>
          <p:nvPr/>
        </p:nvSpPr>
        <p:spPr>
          <a:xfrm>
            <a:off x="8257031" y="1993391"/>
            <a:ext cx="3191256" cy="3794759"/>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Strength: strong RBAC-style organization management and approval workflows.
Limitation for our study: full backend and database technology are not exposed in the reviewed documentation.
CampusConnect will implement explicit PostgreSQL entities, foreign keys, constraints and REST APIs so the engineering is inspectable.</a:t>
            </a:r>
            <a:endParaRPr sz="1150" b="0">
              <a:solidFill>
                <a:srgbClr val="24273A"/>
              </a:solidFill>
              <a:latin typeface="Calibri" panose="020F0502020204030204"/>
            </a:endParaRPr>
          </a:p>
        </p:txBody>
      </p:sp>
      <p:sp>
        <p:nvSpPr>
          <p:cNvPr id="14" name="Rectangle 13"/>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Source [2]: Anthology Engage documentation, organization, event and community-structure pages.</a:t>
            </a:r>
            <a:endParaRPr sz="750" b="0">
              <a:solidFill>
                <a:srgbClr val="646978"/>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03 · EXISTING SYSTEM 3</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Suitable</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Focuses on engagement, student development and measurable participation.</a:t>
            </a:r>
            <a:endParaRPr sz="1250" b="0">
              <a:solidFill>
                <a:srgbClr val="646978"/>
              </a:solidFill>
              <a:latin typeface="Calibri" panose="020F0502020204030204"/>
            </a:endParaRPr>
          </a:p>
        </p:txBody>
      </p:sp>
      <p:sp>
        <p:nvSpPr>
          <p:cNvPr id="5" name="Rounded Rectangle 4"/>
          <p:cNvSpPr/>
          <p:nvPr/>
        </p:nvSpPr>
        <p:spPr>
          <a:xfrm>
            <a:off x="594360" y="1508760"/>
            <a:ext cx="3520440" cy="438912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What it provides</a:t>
            </a:r>
            <a:endParaRPr sz="1500" b="1">
              <a:solidFill>
                <a:srgbClr val="1E2761"/>
              </a:solidFill>
              <a:latin typeface="Calibri" panose="020F0502020204030204"/>
            </a:endParaRPr>
          </a:p>
        </p:txBody>
      </p:sp>
      <p:sp>
        <p:nvSpPr>
          <p:cNvPr id="7" name="TextBox 6"/>
          <p:cNvSpPr txBox="1"/>
          <p:nvPr/>
        </p:nvSpPr>
        <p:spPr>
          <a:xfrm>
            <a:off x="758952" y="1993391"/>
            <a:ext cx="3191256" cy="3794759"/>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 Student organization management
• Event tracking and check-in
• Service-hour tracking
• Mobile-first engagement
• Push notifications
• Virtual events / group chat
• Gamification, badges and points
• Co-curricular records
• Engagement analytics</a:t>
            </a:r>
            <a:endParaRPr sz="1150" b="0">
              <a:solidFill>
                <a:srgbClr val="24273A"/>
              </a:solidFill>
              <a:latin typeface="Calibri" panose="020F0502020204030204"/>
            </a:endParaRPr>
          </a:p>
        </p:txBody>
      </p:sp>
      <p:sp>
        <p:nvSpPr>
          <p:cNvPr id="8" name="Rounded Rectangle 7"/>
          <p:cNvSpPr/>
          <p:nvPr/>
        </p:nvSpPr>
        <p:spPr>
          <a:xfrm>
            <a:off x="4343400" y="1508760"/>
            <a:ext cx="3520440" cy="438912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Approach</a:t>
            </a:r>
            <a:endParaRPr sz="1500" b="1">
              <a:solidFill>
                <a:srgbClr val="1E2761"/>
              </a:solidFill>
              <a:latin typeface="Calibri" panose="020F0502020204030204"/>
            </a:endParaRPr>
          </a:p>
        </p:txBody>
      </p:sp>
      <p:sp>
        <p:nvSpPr>
          <p:cNvPr id="10" name="TextBox 9"/>
          <p:cNvSpPr txBox="1"/>
          <p:nvPr/>
        </p:nvSpPr>
        <p:spPr>
          <a:xfrm>
            <a:off x="4507992" y="1993391"/>
            <a:ext cx="3191256" cy="3794759"/>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Student lifecycle + engagement analytics.
The platform aggregates experiential activities and converts participation into records, milestones and analytics.
The emphasis is engagement measurement rather than low-level campus service workflows.</a:t>
            </a:r>
            <a:endParaRPr sz="1150" b="0">
              <a:solidFill>
                <a:srgbClr val="24273A"/>
              </a:solidFill>
              <a:latin typeface="Calibri" panose="020F0502020204030204"/>
            </a:endParaRPr>
          </a:p>
        </p:txBody>
      </p:sp>
      <p:sp>
        <p:nvSpPr>
          <p:cNvPr id="11" name="Rounded Rectangle 10"/>
          <p:cNvSpPr/>
          <p:nvPr/>
        </p:nvSpPr>
        <p:spPr>
          <a:xfrm>
            <a:off x="8092440" y="1508760"/>
            <a:ext cx="3520440" cy="438912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Critical observation for us</a:t>
            </a:r>
            <a:endParaRPr sz="1500" b="1">
              <a:solidFill>
                <a:srgbClr val="1E2761"/>
              </a:solidFill>
              <a:latin typeface="Calibri" panose="020F0502020204030204"/>
            </a:endParaRPr>
          </a:p>
        </p:txBody>
      </p:sp>
      <p:sp>
        <p:nvSpPr>
          <p:cNvPr id="13" name="TextBox 12"/>
          <p:cNvSpPr txBox="1"/>
          <p:nvPr/>
        </p:nvSpPr>
        <p:spPr>
          <a:xfrm>
            <a:off x="8257031" y="1993391"/>
            <a:ext cx="3191256" cy="3794759"/>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Strength: excellent engagement and analytics model.
Gap relative to CampusConnect: core operational services such as lost/found, complaints and student marketplace are not the central workflow described by the product.
Our design treats these services as first-class relational modules.</a:t>
            </a:r>
            <a:endParaRPr sz="1150" b="0">
              <a:solidFill>
                <a:srgbClr val="24273A"/>
              </a:solidFill>
              <a:latin typeface="Calibri" panose="020F0502020204030204"/>
            </a:endParaRPr>
          </a:p>
        </p:txBody>
      </p:sp>
      <p:sp>
        <p:nvSpPr>
          <p:cNvPr id="14" name="Rectangle 13"/>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Source [3]: Suitable official student-engagement and platform pages.</a:t>
            </a:r>
            <a:endParaRPr sz="750" b="0">
              <a:solidFill>
                <a:srgbClr val="646978"/>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03 · EXISTING SYSTEMS 4–6</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Engineering-Oriented Benchmarks</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Open / academic projects reveal implementation choices that commercial platforms do not expose.</a:t>
            </a:r>
            <a:endParaRPr sz="1250" b="0">
              <a:solidFill>
                <a:srgbClr val="646978"/>
              </a:solidFill>
              <a:latin typeface="Calibri" panose="020F0502020204030204"/>
            </a:endParaRPr>
          </a:p>
        </p:txBody>
      </p:sp>
      <p:sp>
        <p:nvSpPr>
          <p:cNvPr id="5" name="Rounded Rectangle 4"/>
          <p:cNvSpPr/>
          <p:nvPr/>
        </p:nvSpPr>
        <p:spPr>
          <a:xfrm>
            <a:off x="594360" y="1463040"/>
            <a:ext cx="3520440" cy="452628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57276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CampusNexus</a:t>
            </a:r>
            <a:endParaRPr sz="1500" b="1">
              <a:solidFill>
                <a:srgbClr val="1E2761"/>
              </a:solidFill>
              <a:latin typeface="Calibri" panose="020F0502020204030204"/>
            </a:endParaRPr>
          </a:p>
        </p:txBody>
      </p:sp>
      <p:sp>
        <p:nvSpPr>
          <p:cNvPr id="7" name="TextBox 6"/>
          <p:cNvSpPr txBox="1"/>
          <p:nvPr/>
        </p:nvSpPr>
        <p:spPr>
          <a:xfrm>
            <a:off x="758952" y="1947672"/>
            <a:ext cx="3191256" cy="393192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Spring Boot 4.0.3 + Java 17 + React 18/Vite.
PostgreSQL used for deployment evaluation; Firebase Storage + FCM; Stripe for payments.
88 REST endpoints across seven domain controllers.
Useful lesson: explicit domain APIs + RBAC + relational persistence.</a:t>
            </a:r>
            <a:endParaRPr sz="1150" b="0">
              <a:solidFill>
                <a:srgbClr val="24273A"/>
              </a:solidFill>
              <a:latin typeface="Calibri" panose="020F0502020204030204"/>
            </a:endParaRPr>
          </a:p>
        </p:txBody>
      </p:sp>
      <p:sp>
        <p:nvSpPr>
          <p:cNvPr id="8" name="Rounded Rectangle 7"/>
          <p:cNvSpPr/>
          <p:nvPr/>
        </p:nvSpPr>
        <p:spPr>
          <a:xfrm>
            <a:off x="4343400" y="1463040"/>
            <a:ext cx="3520440" cy="452628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57276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Smart Campus Utility Hub</a:t>
            </a:r>
            <a:endParaRPr sz="1500" b="1">
              <a:solidFill>
                <a:srgbClr val="1E2761"/>
              </a:solidFill>
              <a:latin typeface="Calibri" panose="020F0502020204030204"/>
            </a:endParaRPr>
          </a:p>
        </p:txBody>
      </p:sp>
      <p:sp>
        <p:nvSpPr>
          <p:cNvPr id="10" name="TextBox 9"/>
          <p:cNvSpPr txBox="1"/>
          <p:nvPr/>
        </p:nvSpPr>
        <p:spPr>
          <a:xfrm>
            <a:off x="4507992" y="1947672"/>
            <a:ext cx="3191256" cy="393192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Open-source smart campus platform.
React + TypeScript frontend; Node.js / Express backend; PostgreSQL database; JWT authentication.
Modules include AI timetable generation, elective allocation and event management.
Useful lesson: familiar REST stack + PostgreSQL is practical for campus services.</a:t>
            </a:r>
            <a:endParaRPr sz="1150" b="0">
              <a:solidFill>
                <a:srgbClr val="24273A"/>
              </a:solidFill>
              <a:latin typeface="Calibri" panose="020F0502020204030204"/>
            </a:endParaRPr>
          </a:p>
        </p:txBody>
      </p:sp>
      <p:sp>
        <p:nvSpPr>
          <p:cNvPr id="11" name="Rounded Rectangle 10"/>
          <p:cNvSpPr/>
          <p:nvPr/>
        </p:nvSpPr>
        <p:spPr>
          <a:xfrm>
            <a:off x="8092440" y="1463040"/>
            <a:ext cx="3520440" cy="452628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157276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Campus Lost &amp; Found</a:t>
            </a:r>
            <a:endParaRPr sz="1500" b="1">
              <a:solidFill>
                <a:srgbClr val="1E2761"/>
              </a:solidFill>
              <a:latin typeface="Calibri" panose="020F0502020204030204"/>
            </a:endParaRPr>
          </a:p>
        </p:txBody>
      </p:sp>
      <p:sp>
        <p:nvSpPr>
          <p:cNvPr id="13" name="TextBox 12"/>
          <p:cNvSpPr txBox="1"/>
          <p:nvPr/>
        </p:nvSpPr>
        <p:spPr>
          <a:xfrm>
            <a:off x="8257031" y="1947672"/>
            <a:ext cx="3191256" cy="393192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Dedicated lost/found system using React + Node.js + Express + MySQL.
Includes user/admin dashboards, lost/found reports, claims, notifications and a donation marketplace.
Advanced DB work includes triggers, procedures, functions and 3NF.
Useful lesson: specialized modules can exploit database logic deeply.</a:t>
            </a:r>
            <a:endParaRPr sz="1150" b="0">
              <a:solidFill>
                <a:srgbClr val="24273A"/>
              </a:solidFill>
              <a:latin typeface="Calibri" panose="020F0502020204030204"/>
            </a:endParaRPr>
          </a:p>
        </p:txBody>
      </p:sp>
      <p:sp>
        <p:nvSpPr>
          <p:cNvPr id="14" name="Rectangle 13"/>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Sources [4]–[6]: CampusNexus research paper; Smart Campus Utility Hub GitHub topic/repository; Campus Lost &amp; Found GitHub repository.</a:t>
            </a:r>
            <a:endParaRPr sz="750" b="0">
              <a:solidFill>
                <a:srgbClr val="646978"/>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04 · SPECIALIZED MODULE BENCHMARKS</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Lost &amp; Found and Grievance Systems</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These systems show how individual CampusConnect modules are already solved in isolation.</a:t>
            </a:r>
            <a:endParaRPr sz="1250" b="0">
              <a:solidFill>
                <a:srgbClr val="646978"/>
              </a:solidFill>
              <a:latin typeface="Calibri" panose="020F0502020204030204"/>
            </a:endParaRPr>
          </a:p>
        </p:txBody>
      </p:sp>
      <p:sp>
        <p:nvSpPr>
          <p:cNvPr id="5" name="Rounded Rectangle 4"/>
          <p:cNvSpPr/>
          <p:nvPr/>
        </p:nvSpPr>
        <p:spPr>
          <a:xfrm>
            <a:off x="594360" y="1554480"/>
            <a:ext cx="5303520" cy="425196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664207"/>
            <a:ext cx="497433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Campus Lost &amp; Found — database-heavy example</a:t>
            </a:r>
            <a:endParaRPr sz="1500" b="1">
              <a:solidFill>
                <a:srgbClr val="1E2761"/>
              </a:solidFill>
              <a:latin typeface="Calibri" panose="020F0502020204030204"/>
            </a:endParaRPr>
          </a:p>
        </p:txBody>
      </p:sp>
      <p:sp>
        <p:nvSpPr>
          <p:cNvPr id="7" name="TextBox 6"/>
          <p:cNvSpPr txBox="1"/>
          <p:nvPr/>
        </p:nvSpPr>
        <p:spPr>
          <a:xfrm>
            <a:off x="758952" y="2039112"/>
            <a:ext cx="4974336" cy="365760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Features: lost/found reporting, claims, notifications, admin management, marketplace for unclaimed items.
Stack: React + Node.js/Express + MySQL.
Database techniques: 3NF, foreign keys, triggers, stored procedures, functions, nested/join/aggregate queries, indexes.
Limitation: strong specialization, but it does not provide the wider campus ecosystem of clubs, events and complaints.</a:t>
            </a:r>
            <a:endParaRPr sz="1150" b="0">
              <a:solidFill>
                <a:srgbClr val="24273A"/>
              </a:solidFill>
              <a:latin typeface="Calibri" panose="020F0502020204030204"/>
            </a:endParaRPr>
          </a:p>
        </p:txBody>
      </p:sp>
      <p:sp>
        <p:nvSpPr>
          <p:cNvPr id="8" name="Rounded Rectangle 7"/>
          <p:cNvSpPr/>
          <p:nvPr/>
        </p:nvSpPr>
        <p:spPr>
          <a:xfrm>
            <a:off x="6263640" y="1554480"/>
            <a:ext cx="5303520" cy="425196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1" y="1664207"/>
            <a:ext cx="497433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Students' Grievance Management System</a:t>
            </a:r>
            <a:endParaRPr sz="1500" b="1">
              <a:solidFill>
                <a:srgbClr val="1E2761"/>
              </a:solidFill>
              <a:latin typeface="Calibri" panose="020F0502020204030204"/>
            </a:endParaRPr>
          </a:p>
        </p:txBody>
      </p:sp>
      <p:sp>
        <p:nvSpPr>
          <p:cNvPr id="10" name="TextBox 9"/>
          <p:cNvSpPr txBox="1"/>
          <p:nvPr/>
        </p:nvSpPr>
        <p:spPr>
          <a:xfrm>
            <a:off x="6428231" y="2039112"/>
            <a:ext cx="4974336" cy="365760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Features: centralized complaint submission, tracking and administrator management.
Stack: PHP + MySQL + XAMPP in the reviewed implementation.
Limitation: traditional server-rendered / tightly coupled architecture and narrow grievance scope.
CampusConnect improves the architectural separation by exposing REST APIs and connects complaints with the same student, role and notification data used by the rest of the platform.</a:t>
            </a:r>
            <a:endParaRPr sz="1150" b="0">
              <a:solidFill>
                <a:srgbClr val="24273A"/>
              </a:solidFill>
              <a:latin typeface="Calibri" panose="020F0502020204030204"/>
            </a:endParaRPr>
          </a:p>
        </p:txBody>
      </p:sp>
      <p:sp>
        <p:nvSpPr>
          <p:cNvPr id="11" name="Rectangle 10"/>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Sources [6] and [7]. Grievance source: public GitHub implementation by virajbhutada.</a:t>
            </a:r>
            <a:endParaRPr sz="750" b="0">
              <a:solidFill>
                <a:srgbClr val="646978"/>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05 · COMPARATIVE ANALYSIS</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Literature Review Matrix for CampusConnect</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The matrix compares what each approach provides, what it teaches us, and what remains for our project.</a:t>
            </a:r>
            <a:endParaRPr sz="1250" b="0">
              <a:solidFill>
                <a:srgbClr val="646978"/>
              </a:solidFill>
              <a:latin typeface="Calibri" panose="020F0502020204030204"/>
            </a:endParaRPr>
          </a:p>
        </p:txBody>
      </p:sp>
      <p:graphicFrame>
        <p:nvGraphicFramePr>
          <p:cNvPr id="5" name="Table 4"/>
          <p:cNvGraphicFramePr>
            <a:graphicFrameLocks noGrp="1"/>
          </p:cNvGraphicFramePr>
          <p:nvPr/>
        </p:nvGraphicFramePr>
        <p:xfrm>
          <a:off x="411480" y="1508760"/>
          <a:ext cx="11384280" cy="4617720"/>
        </p:xfrm>
        <a:graphic>
          <a:graphicData uri="http://schemas.openxmlformats.org/drawingml/2006/table">
            <a:tbl>
              <a:tblPr firstRow="1" bandRow="1">
                <a:tableStyleId>{5C22544A-7EE6-4342-B048-85BDC9FD1C3A}</a:tableStyleId>
              </a:tblPr>
              <a:tblGrid>
                <a:gridCol w="2846070"/>
                <a:gridCol w="2846070"/>
                <a:gridCol w="2846070"/>
                <a:gridCol w="2846070"/>
              </a:tblGrid>
              <a:tr h="577215">
                <a:tc>
                  <a:txBody>
                    <a:bodyPr/>
                    <a:lstStyle/>
                    <a:p>
                      <a:pPr algn="ctr"/>
                      <a:r>
                        <a:rPr sz="850" b="1">
                          <a:solidFill>
                            <a:srgbClr val="FFFFFF"/>
                          </a:solidFill>
                          <a:latin typeface="Calibri" panose="020F0502020204030204"/>
                        </a:rPr>
                        <a:t>Existing approach</a:t>
                      </a:r>
                      <a:endParaRPr sz="850" b="1">
                        <a:solidFill>
                          <a:srgbClr val="FFFFFF"/>
                        </a:solidFill>
                        <a:latin typeface="Calibri" panose="020F0502020204030204"/>
                      </a:endParaRPr>
                    </a:p>
                  </a:txBody>
                  <a:tcPr marL="45720" marR="45720" marT="27432" marB="27432">
                    <a:solidFill>
                      <a:srgbClr val="1E2761"/>
                    </a:solidFill>
                  </a:tcPr>
                </a:tc>
                <a:tc>
                  <a:txBody>
                    <a:bodyPr/>
                    <a:lstStyle/>
                    <a:p>
                      <a:pPr algn="ctr"/>
                      <a:r>
                        <a:rPr sz="850" b="1">
                          <a:solidFill>
                            <a:srgbClr val="FFFFFF"/>
                          </a:solidFill>
                          <a:latin typeface="Calibri" panose="020F0502020204030204"/>
                        </a:rPr>
                        <a:t>What it solves</a:t>
                      </a:r>
                      <a:endParaRPr sz="850" b="1">
                        <a:solidFill>
                          <a:srgbClr val="FFFFFF"/>
                        </a:solidFill>
                        <a:latin typeface="Calibri" panose="020F0502020204030204"/>
                      </a:endParaRPr>
                    </a:p>
                  </a:txBody>
                  <a:tcPr marL="45720" marR="45720" marT="27432" marB="27432">
                    <a:solidFill>
                      <a:srgbClr val="1E2761"/>
                    </a:solidFill>
                  </a:tcPr>
                </a:tc>
                <a:tc>
                  <a:txBody>
                    <a:bodyPr/>
                    <a:lstStyle/>
                    <a:p>
                      <a:pPr algn="ctr"/>
                      <a:r>
                        <a:rPr sz="850" b="1">
                          <a:solidFill>
                            <a:srgbClr val="FFFFFF"/>
                          </a:solidFill>
                          <a:latin typeface="Calibri" panose="020F0502020204030204"/>
                        </a:rPr>
                        <a:t>Strength</a:t>
                      </a:r>
                      <a:endParaRPr sz="850" b="1">
                        <a:solidFill>
                          <a:srgbClr val="FFFFFF"/>
                        </a:solidFill>
                        <a:latin typeface="Calibri" panose="020F0502020204030204"/>
                      </a:endParaRPr>
                    </a:p>
                  </a:txBody>
                  <a:tcPr marL="45720" marR="45720" marT="27432" marB="27432">
                    <a:solidFill>
                      <a:srgbClr val="1E2761"/>
                    </a:solidFill>
                  </a:tcPr>
                </a:tc>
                <a:tc>
                  <a:txBody>
                    <a:bodyPr/>
                    <a:lstStyle/>
                    <a:p>
                      <a:pPr algn="ctr"/>
                      <a:r>
                        <a:rPr sz="850" b="1">
                          <a:solidFill>
                            <a:srgbClr val="FFFFFF"/>
                          </a:solidFill>
                          <a:latin typeface="Calibri" panose="020F0502020204030204"/>
                        </a:rPr>
                        <a:t>Limitation / gap for CampusConnect</a:t>
                      </a:r>
                      <a:endParaRPr sz="850" b="1">
                        <a:solidFill>
                          <a:srgbClr val="FFFFFF"/>
                        </a:solidFill>
                        <a:latin typeface="Calibri" panose="020F0502020204030204"/>
                      </a:endParaRPr>
                    </a:p>
                  </a:txBody>
                  <a:tcPr marL="45720" marR="45720" marT="27432" marB="27432">
                    <a:solidFill>
                      <a:srgbClr val="1E2761"/>
                    </a:solidFill>
                  </a:tcPr>
                </a:tc>
              </a:tr>
              <a:tr h="577215">
                <a:tc>
                  <a:txBody>
                    <a:bodyPr/>
                    <a:lstStyle/>
                    <a:p>
                      <a:pPr algn="l"/>
                      <a:r>
                        <a:rPr sz="770">
                          <a:solidFill>
                            <a:srgbClr val="24273A"/>
                          </a:solidFill>
                          <a:latin typeface="Calibri" panose="020F0502020204030204"/>
                        </a:rPr>
                        <a:t>CampusGroups</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Clubs + events + marketplace + many campus modules</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Very broad, mature workflows</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Proprietary internals; backend/DB not exposed</a:t>
                      </a:r>
                      <a:endParaRPr sz="770">
                        <a:solidFill>
                          <a:srgbClr val="24273A"/>
                        </a:solidFill>
                        <a:latin typeface="Calibri" panose="020F0502020204030204"/>
                      </a:endParaRPr>
                    </a:p>
                  </a:txBody>
                  <a:tcPr marL="45720" marR="45720" marT="27432" marB="27432">
                    <a:solidFill>
                      <a:srgbClr val="F4F7FC"/>
                    </a:solidFill>
                  </a:tcPr>
                </a:tc>
              </a:tr>
              <a:tr h="577215">
                <a:tc>
                  <a:txBody>
                    <a:bodyPr/>
                    <a:lstStyle/>
                    <a:p>
                      <a:pPr algn="l"/>
                      <a:r>
                        <a:rPr sz="770">
                          <a:solidFill>
                            <a:srgbClr val="24273A"/>
                          </a:solidFill>
                          <a:latin typeface="Calibri" panose="020F0502020204030204"/>
                        </a:rPr>
                        <a:t>Anthology Engage</a:t>
                      </a:r>
                      <a:endParaRPr sz="770">
                        <a:solidFill>
                          <a:srgbClr val="24273A"/>
                        </a:solidFill>
                        <a:latin typeface="Calibri" panose="020F0502020204030204"/>
                      </a:endParaRPr>
                    </a:p>
                  </a:txBody>
                  <a:tcPr marL="45720" marR="45720" marT="27432" marB="27432">
                    <a:solidFill>
                      <a:srgbClr val="FFFFFF"/>
                    </a:solidFill>
                  </a:tcPr>
                </a:tc>
                <a:tc>
                  <a:txBody>
                    <a:bodyPr/>
                    <a:lstStyle/>
                    <a:p>
                      <a:pPr algn="l"/>
                      <a:r>
                        <a:rPr sz="770">
                          <a:solidFill>
                            <a:srgbClr val="24273A"/>
                          </a:solidFill>
                          <a:latin typeface="Calibri" panose="020F0502020204030204"/>
                        </a:rPr>
                        <a:t>Organizations + events + forms + finance + service</a:t>
                      </a:r>
                      <a:endParaRPr sz="770">
                        <a:solidFill>
                          <a:srgbClr val="24273A"/>
                        </a:solidFill>
                        <a:latin typeface="Calibri" panose="020F0502020204030204"/>
                      </a:endParaRPr>
                    </a:p>
                  </a:txBody>
                  <a:tcPr marL="45720" marR="45720" marT="27432" marB="27432">
                    <a:solidFill>
                      <a:srgbClr val="FFFFFF"/>
                    </a:solidFill>
                  </a:tcPr>
                </a:tc>
                <a:tc>
                  <a:txBody>
                    <a:bodyPr/>
                    <a:lstStyle/>
                    <a:p>
                      <a:pPr algn="l"/>
                      <a:r>
                        <a:rPr sz="770">
                          <a:solidFill>
                            <a:srgbClr val="24273A"/>
                          </a:solidFill>
                          <a:latin typeface="Calibri" panose="020F0502020204030204"/>
                        </a:rPr>
                        <a:t>Strong permissions / approval model</a:t>
                      </a:r>
                      <a:endParaRPr sz="770">
                        <a:solidFill>
                          <a:srgbClr val="24273A"/>
                        </a:solidFill>
                        <a:latin typeface="Calibri" panose="020F0502020204030204"/>
                      </a:endParaRPr>
                    </a:p>
                  </a:txBody>
                  <a:tcPr marL="45720" marR="45720" marT="27432" marB="27432">
                    <a:solidFill>
                      <a:srgbClr val="FFFFFF"/>
                    </a:solidFill>
                  </a:tcPr>
                </a:tc>
                <a:tc>
                  <a:txBody>
                    <a:bodyPr/>
                    <a:lstStyle/>
                    <a:p>
                      <a:pPr algn="l"/>
                      <a:r>
                        <a:rPr sz="770">
                          <a:solidFill>
                            <a:srgbClr val="24273A"/>
                          </a:solidFill>
                          <a:latin typeface="Calibri" panose="020F0502020204030204"/>
                        </a:rPr>
                        <a:t>Backend/DB not exposed; service-centric scope</a:t>
                      </a:r>
                      <a:endParaRPr sz="770">
                        <a:solidFill>
                          <a:srgbClr val="24273A"/>
                        </a:solidFill>
                        <a:latin typeface="Calibri" panose="020F0502020204030204"/>
                      </a:endParaRPr>
                    </a:p>
                  </a:txBody>
                  <a:tcPr marL="45720" marR="45720" marT="27432" marB="27432">
                    <a:solidFill>
                      <a:srgbClr val="FFFFFF"/>
                    </a:solidFill>
                  </a:tcPr>
                </a:tc>
              </a:tr>
              <a:tr h="577215">
                <a:tc>
                  <a:txBody>
                    <a:bodyPr/>
                    <a:lstStyle/>
                    <a:p>
                      <a:pPr algn="l"/>
                      <a:r>
                        <a:rPr sz="770">
                          <a:solidFill>
                            <a:srgbClr val="24273A"/>
                          </a:solidFill>
                          <a:latin typeface="Calibri" panose="020F0502020204030204"/>
                        </a:rPr>
                        <a:t>Suitable</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Organizations + events + service + engagement analytics</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Strong engagement measurement</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Operational campus services are not its main focus</a:t>
                      </a:r>
                      <a:endParaRPr sz="770">
                        <a:solidFill>
                          <a:srgbClr val="24273A"/>
                        </a:solidFill>
                        <a:latin typeface="Calibri" panose="020F0502020204030204"/>
                      </a:endParaRPr>
                    </a:p>
                  </a:txBody>
                  <a:tcPr marL="45720" marR="45720" marT="27432" marB="27432">
                    <a:solidFill>
                      <a:srgbClr val="F4F7FC"/>
                    </a:solidFill>
                  </a:tcPr>
                </a:tc>
              </a:tr>
              <a:tr h="577215">
                <a:tc>
                  <a:txBody>
                    <a:bodyPr/>
                    <a:lstStyle/>
                    <a:p>
                      <a:pPr algn="l"/>
                      <a:r>
                        <a:rPr sz="770">
                          <a:solidFill>
                            <a:srgbClr val="24273A"/>
                          </a:solidFill>
                          <a:latin typeface="Calibri" panose="020F0502020204030204"/>
                        </a:rPr>
                        <a:t>CampusNexus</a:t>
                      </a:r>
                      <a:endParaRPr sz="770">
                        <a:solidFill>
                          <a:srgbClr val="24273A"/>
                        </a:solidFill>
                        <a:latin typeface="Calibri" panose="020F0502020204030204"/>
                      </a:endParaRPr>
                    </a:p>
                  </a:txBody>
                  <a:tcPr marL="45720" marR="45720" marT="27432" marB="27432">
                    <a:solidFill>
                      <a:srgbClr val="FFFFFF"/>
                    </a:solidFill>
                  </a:tcPr>
                </a:tc>
                <a:tc>
                  <a:txBody>
                    <a:bodyPr/>
                    <a:lstStyle/>
                    <a:p>
                      <a:pPr algn="l"/>
                      <a:r>
                        <a:rPr sz="770">
                          <a:solidFill>
                            <a:srgbClr val="24273A"/>
                          </a:solidFill>
                          <a:latin typeface="Calibri" panose="020F0502020204030204"/>
                        </a:rPr>
                        <a:t>Multi-role campus management + events + clubs</a:t>
                      </a:r>
                      <a:endParaRPr sz="770">
                        <a:solidFill>
                          <a:srgbClr val="24273A"/>
                        </a:solidFill>
                        <a:latin typeface="Calibri" panose="020F0502020204030204"/>
                      </a:endParaRPr>
                    </a:p>
                  </a:txBody>
                  <a:tcPr marL="45720" marR="45720" marT="27432" marB="27432">
                    <a:solidFill>
                      <a:srgbClr val="FFFFFF"/>
                    </a:solidFill>
                  </a:tcPr>
                </a:tc>
                <a:tc>
                  <a:txBody>
                    <a:bodyPr/>
                    <a:lstStyle/>
                    <a:p>
                      <a:pPr algn="l"/>
                      <a:r>
                        <a:rPr sz="770">
                          <a:solidFill>
                            <a:srgbClr val="24273A"/>
                          </a:solidFill>
                          <a:latin typeface="Calibri" panose="020F0502020204030204"/>
                        </a:rPr>
                        <a:t>Spring Boot + PostgreSQL + RBAC</a:t>
                      </a:r>
                      <a:endParaRPr sz="770">
                        <a:solidFill>
                          <a:srgbClr val="24273A"/>
                        </a:solidFill>
                        <a:latin typeface="Calibri" panose="020F0502020204030204"/>
                      </a:endParaRPr>
                    </a:p>
                  </a:txBody>
                  <a:tcPr marL="45720" marR="45720" marT="27432" marB="27432">
                    <a:solidFill>
                      <a:srgbClr val="FFFFFF"/>
                    </a:solidFill>
                  </a:tcPr>
                </a:tc>
                <a:tc>
                  <a:txBody>
                    <a:bodyPr/>
                    <a:lstStyle/>
                    <a:p>
                      <a:pPr algn="l"/>
                      <a:r>
                        <a:rPr sz="770">
                          <a:solidFill>
                            <a:srgbClr val="24273A"/>
                          </a:solidFill>
                          <a:latin typeface="Calibri" panose="020F0502020204030204"/>
                        </a:rPr>
                        <a:t>Academic/administrative focus; not unified student services</a:t>
                      </a:r>
                      <a:endParaRPr sz="770">
                        <a:solidFill>
                          <a:srgbClr val="24273A"/>
                        </a:solidFill>
                        <a:latin typeface="Calibri" panose="020F0502020204030204"/>
                      </a:endParaRPr>
                    </a:p>
                  </a:txBody>
                  <a:tcPr marL="45720" marR="45720" marT="27432" marB="27432">
                    <a:solidFill>
                      <a:srgbClr val="FFFFFF"/>
                    </a:solidFill>
                  </a:tcPr>
                </a:tc>
              </a:tr>
              <a:tr h="577215">
                <a:tc>
                  <a:txBody>
                    <a:bodyPr/>
                    <a:lstStyle/>
                    <a:p>
                      <a:pPr algn="l"/>
                      <a:r>
                        <a:rPr sz="770">
                          <a:solidFill>
                            <a:srgbClr val="24273A"/>
                          </a:solidFill>
                          <a:latin typeface="Calibri" panose="020F0502020204030204"/>
                        </a:rPr>
                        <a:t>Utility Hub</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Timetable + electives + events</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React + Node + PostgreSQL + JWT</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Limited service coverage</a:t>
                      </a:r>
                      <a:endParaRPr sz="770">
                        <a:solidFill>
                          <a:srgbClr val="24273A"/>
                        </a:solidFill>
                        <a:latin typeface="Calibri" panose="020F0502020204030204"/>
                      </a:endParaRPr>
                    </a:p>
                  </a:txBody>
                  <a:tcPr marL="45720" marR="45720" marT="27432" marB="27432">
                    <a:solidFill>
                      <a:srgbClr val="F4F7FC"/>
                    </a:solidFill>
                  </a:tcPr>
                </a:tc>
              </a:tr>
              <a:tr h="577215">
                <a:tc>
                  <a:txBody>
                    <a:bodyPr/>
                    <a:lstStyle/>
                    <a:p>
                      <a:pPr algn="l"/>
                      <a:r>
                        <a:rPr sz="770">
                          <a:solidFill>
                            <a:srgbClr val="24273A"/>
                          </a:solidFill>
                          <a:latin typeface="Calibri" panose="020F0502020204030204"/>
                        </a:rPr>
                        <a:t>Lost &amp; Found</a:t>
                      </a:r>
                      <a:endParaRPr sz="770">
                        <a:solidFill>
                          <a:srgbClr val="24273A"/>
                        </a:solidFill>
                        <a:latin typeface="Calibri" panose="020F0502020204030204"/>
                      </a:endParaRPr>
                    </a:p>
                  </a:txBody>
                  <a:tcPr marL="45720" marR="45720" marT="27432" marB="27432">
                    <a:solidFill>
                      <a:srgbClr val="FFFFFF"/>
                    </a:solidFill>
                  </a:tcPr>
                </a:tc>
                <a:tc>
                  <a:txBody>
                    <a:bodyPr/>
                    <a:lstStyle/>
                    <a:p>
                      <a:pPr algn="l"/>
                      <a:r>
                        <a:rPr sz="770">
                          <a:solidFill>
                            <a:srgbClr val="24273A"/>
                          </a:solidFill>
                          <a:latin typeface="Calibri" panose="020F0502020204030204"/>
                        </a:rPr>
                        <a:t>Lost/found + claims + notifications</a:t>
                      </a:r>
                      <a:endParaRPr sz="770">
                        <a:solidFill>
                          <a:srgbClr val="24273A"/>
                        </a:solidFill>
                        <a:latin typeface="Calibri" panose="020F0502020204030204"/>
                      </a:endParaRPr>
                    </a:p>
                  </a:txBody>
                  <a:tcPr marL="45720" marR="45720" marT="27432" marB="27432">
                    <a:solidFill>
                      <a:srgbClr val="FFFFFF"/>
                    </a:solidFill>
                  </a:tcPr>
                </a:tc>
                <a:tc>
                  <a:txBody>
                    <a:bodyPr/>
                    <a:lstStyle/>
                    <a:p>
                      <a:pPr algn="l"/>
                      <a:r>
                        <a:rPr sz="770">
                          <a:solidFill>
                            <a:srgbClr val="24273A"/>
                          </a:solidFill>
                          <a:latin typeface="Calibri" panose="020F0502020204030204"/>
                        </a:rPr>
                        <a:t>Deep relational DB logic</a:t>
                      </a:r>
                      <a:endParaRPr sz="770">
                        <a:solidFill>
                          <a:srgbClr val="24273A"/>
                        </a:solidFill>
                        <a:latin typeface="Calibri" panose="020F0502020204030204"/>
                      </a:endParaRPr>
                    </a:p>
                  </a:txBody>
                  <a:tcPr marL="45720" marR="45720" marT="27432" marB="27432">
                    <a:solidFill>
                      <a:srgbClr val="FFFFFF"/>
                    </a:solidFill>
                  </a:tcPr>
                </a:tc>
                <a:tc>
                  <a:txBody>
                    <a:bodyPr/>
                    <a:lstStyle/>
                    <a:p>
                      <a:pPr algn="l"/>
                      <a:r>
                        <a:rPr sz="770">
                          <a:solidFill>
                            <a:srgbClr val="24273A"/>
                          </a:solidFill>
                          <a:latin typeface="Calibri" panose="020F0502020204030204"/>
                        </a:rPr>
                        <a:t>Single-domain specialization</a:t>
                      </a:r>
                      <a:endParaRPr sz="770">
                        <a:solidFill>
                          <a:srgbClr val="24273A"/>
                        </a:solidFill>
                        <a:latin typeface="Calibri" panose="020F0502020204030204"/>
                      </a:endParaRPr>
                    </a:p>
                  </a:txBody>
                  <a:tcPr marL="45720" marR="45720" marT="27432" marB="27432">
                    <a:solidFill>
                      <a:srgbClr val="FFFFFF"/>
                    </a:solidFill>
                  </a:tcPr>
                </a:tc>
              </a:tr>
              <a:tr h="577215">
                <a:tc>
                  <a:txBody>
                    <a:bodyPr/>
                    <a:lstStyle/>
                    <a:p>
                      <a:pPr algn="l"/>
                      <a:r>
                        <a:rPr sz="770">
                          <a:solidFill>
                            <a:srgbClr val="24273A"/>
                          </a:solidFill>
                          <a:latin typeface="Calibri" panose="020F0502020204030204"/>
                        </a:rPr>
                        <a:t>Grievance System</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Complaint submission + tracking</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Simple workflow and centralized records</a:t>
                      </a:r>
                      <a:endParaRPr sz="770">
                        <a:solidFill>
                          <a:srgbClr val="24273A"/>
                        </a:solidFill>
                        <a:latin typeface="Calibri" panose="020F0502020204030204"/>
                      </a:endParaRPr>
                    </a:p>
                  </a:txBody>
                  <a:tcPr marL="45720" marR="45720" marT="27432" marB="27432">
                    <a:solidFill>
                      <a:srgbClr val="F4F7FC"/>
                    </a:solidFill>
                  </a:tcPr>
                </a:tc>
                <a:tc>
                  <a:txBody>
                    <a:bodyPr/>
                    <a:lstStyle/>
                    <a:p>
                      <a:pPr algn="l"/>
                      <a:r>
                        <a:rPr sz="770">
                          <a:solidFill>
                            <a:srgbClr val="24273A"/>
                          </a:solidFill>
                          <a:latin typeface="Calibri" panose="020F0502020204030204"/>
                        </a:rPr>
                        <a:t>PHP/MySQL monolithic style; narrow module</a:t>
                      </a:r>
                      <a:endParaRPr sz="770">
                        <a:solidFill>
                          <a:srgbClr val="24273A"/>
                        </a:solidFill>
                        <a:latin typeface="Calibri" panose="020F0502020204030204"/>
                      </a:endParaRPr>
                    </a:p>
                  </a:txBody>
                  <a:tcPr marL="45720" marR="45720" marT="27432" marB="27432">
                    <a:solidFill>
                      <a:srgbClr val="F4F7FC"/>
                    </a:solidFill>
                  </a:tcPr>
                </a:tc>
              </a:tr>
            </a:tbl>
          </a:graphicData>
        </a:graphic>
      </p:graphicFrame>
      <p:sp>
        <p:nvSpPr>
          <p:cNvPr id="6" name="Rectangle 5"/>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Sources [1]–[7]. Limitation column is our critical comparison, not a claim that the original systems are defective.</a:t>
            </a:r>
            <a:endParaRPr sz="750" b="0">
              <a:solidFill>
                <a:srgbClr val="646978"/>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06 · GAP ANALYSIS</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What Is Missing Across the Reviewed Approaches?</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The gap is not 'nobody has built this'; the gap is the limited integration of these services with an inspectable DB/backend architecture.</a:t>
            </a:r>
            <a:endParaRPr sz="1250" b="0">
              <a:solidFill>
                <a:srgbClr val="646978"/>
              </a:solidFill>
              <a:latin typeface="Calibri" panose="020F0502020204030204"/>
            </a:endParaRPr>
          </a:p>
        </p:txBody>
      </p:sp>
      <p:sp>
        <p:nvSpPr>
          <p:cNvPr id="5" name="Rounded Rectangle 4"/>
          <p:cNvSpPr/>
          <p:nvPr/>
        </p:nvSpPr>
        <p:spPr>
          <a:xfrm>
            <a:off x="594360" y="1508760"/>
            <a:ext cx="3520440" cy="429768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Feature / integration gap</a:t>
            </a:r>
            <a:endParaRPr sz="1500" b="1">
              <a:solidFill>
                <a:srgbClr val="1E2761"/>
              </a:solidFill>
              <a:latin typeface="Calibri" panose="020F0502020204030204"/>
            </a:endParaRPr>
          </a:p>
        </p:txBody>
      </p:sp>
      <p:sp>
        <p:nvSpPr>
          <p:cNvPr id="7" name="TextBox 6"/>
          <p:cNvSpPr txBox="1"/>
          <p:nvPr/>
        </p:nvSpPr>
        <p:spPr>
          <a:xfrm>
            <a:off x="758952" y="1993391"/>
            <a:ext cx="3191256" cy="370332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Existing systems commonly specialize:
• Engagement + events
• Lost &amp; Found
• Grievances
• Timetables / academics
CampusConnect combines the student-facing services in one relational model.</a:t>
            </a:r>
            <a:endParaRPr sz="1150" b="0">
              <a:solidFill>
                <a:srgbClr val="24273A"/>
              </a:solidFill>
              <a:latin typeface="Calibri" panose="020F0502020204030204"/>
            </a:endParaRPr>
          </a:p>
        </p:txBody>
      </p:sp>
      <p:sp>
        <p:nvSpPr>
          <p:cNvPr id="8" name="Rounded Rectangle 7"/>
          <p:cNvSpPr/>
          <p:nvPr/>
        </p:nvSpPr>
        <p:spPr>
          <a:xfrm>
            <a:off x="4343400" y="1508760"/>
            <a:ext cx="3520440" cy="429768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Database engineering gap</a:t>
            </a:r>
            <a:endParaRPr sz="1500" b="1">
              <a:solidFill>
                <a:srgbClr val="1E2761"/>
              </a:solidFill>
              <a:latin typeface="Calibri" panose="020F0502020204030204"/>
            </a:endParaRPr>
          </a:p>
        </p:txBody>
      </p:sp>
      <p:sp>
        <p:nvSpPr>
          <p:cNvPr id="10" name="TextBox 9"/>
          <p:cNvSpPr txBox="1"/>
          <p:nvPr/>
        </p:nvSpPr>
        <p:spPr>
          <a:xfrm>
            <a:off x="4507992" y="1993391"/>
            <a:ext cx="3191256" cy="370332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Commercial platforms hide the schema and backend.
Specialized student projects often use a single database and narrow workflows.
CampusConnect makes the relational design itself part of the project: ER model, normalization, constraints, indexes and transactions.</a:t>
            </a:r>
            <a:endParaRPr sz="1150" b="0">
              <a:solidFill>
                <a:srgbClr val="24273A"/>
              </a:solidFill>
              <a:latin typeface="Calibri" panose="020F0502020204030204"/>
            </a:endParaRPr>
          </a:p>
        </p:txBody>
      </p:sp>
      <p:sp>
        <p:nvSpPr>
          <p:cNvPr id="11" name="Rounded Rectangle 10"/>
          <p:cNvSpPr/>
          <p:nvPr/>
        </p:nvSpPr>
        <p:spPr>
          <a:xfrm>
            <a:off x="8092440" y="1508760"/>
            <a:ext cx="3520440" cy="429768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161848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Backend engineering gap</a:t>
            </a:r>
            <a:endParaRPr sz="1500" b="1">
              <a:solidFill>
                <a:srgbClr val="1E2761"/>
              </a:solidFill>
              <a:latin typeface="Calibri" panose="020F0502020204030204"/>
            </a:endParaRPr>
          </a:p>
        </p:txBody>
      </p:sp>
      <p:sp>
        <p:nvSpPr>
          <p:cNvPr id="13" name="TextBox 12"/>
          <p:cNvSpPr txBox="1"/>
          <p:nvPr/>
        </p:nvSpPr>
        <p:spPr>
          <a:xfrm>
            <a:off x="8257031" y="1993391"/>
            <a:ext cx="3191256" cy="370332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Many small systems are tightly coupled.
CampusConnect uses a layered REST backend with:
• Auth + RBAC
• Controller / service / repository layers
• Validation
• API testing
• Notification workflows
• Clear module boundaries</a:t>
            </a:r>
            <a:endParaRPr sz="1150" b="0">
              <a:solidFill>
                <a:srgbClr val="24273A"/>
              </a:solidFill>
              <a:latin typeface="Calibri" panose="020F0502020204030204"/>
            </a:endParaRPr>
          </a:p>
        </p:txBody>
      </p:sp>
      <p:sp>
        <p:nvSpPr>
          <p:cNvPr id="14" name="TextBox 13"/>
          <p:cNvSpPr txBox="1"/>
          <p:nvPr/>
        </p:nvSpPr>
        <p:spPr>
          <a:xfrm>
            <a:off x="685800" y="5989320"/>
            <a:ext cx="10789920" cy="384048"/>
          </a:xfrm>
          <a:prstGeom prst="rect">
            <a:avLst/>
          </a:prstGeom>
          <a:noFill/>
        </p:spPr>
        <p:txBody>
          <a:bodyPr wrap="square" lIns="27432" tIns="27432" rIns="27432" bIns="27432" anchor="t">
            <a:spAutoFit/>
          </a:bodyPr>
          <a:lstStyle/>
          <a:p>
            <a:pPr algn="ctr">
              <a:lnSpc>
                <a:spcPct val="100000"/>
              </a:lnSpc>
            </a:pPr>
            <a:r>
              <a:rPr sz="1150" b="1">
                <a:solidFill>
                  <a:srgbClr val="1E2761"/>
                </a:solidFill>
                <a:latin typeface="Calibri" panose="020F0502020204030204"/>
              </a:rPr>
              <a:t>Proposed gap statement: Existing campus platforms provide strong individual services, but limited attention is given to integrating clubs, events, lost &amp; found, marketplace and grievances through a single transaction-oriented PostgreSQL + REST backend.</a:t>
            </a:r>
            <a:endParaRPr sz="1150" b="1">
              <a:solidFill>
                <a:srgbClr val="1E2761"/>
              </a:solidFill>
              <a:latin typeface="Calibri" panose="020F0502020204030204"/>
            </a:endParaRPr>
          </a:p>
        </p:txBody>
      </p:sp>
      <p:sp>
        <p:nvSpPr>
          <p:cNvPr id="15" name="Rectangle 14"/>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Gap-analysis wording follows the supplied course guidance: identify what is missing, weak, inefficient or insufficiently integrated.</a:t>
            </a:r>
            <a:endParaRPr sz="750" b="0">
              <a:solidFill>
                <a:srgbClr val="646978"/>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07 · CRITICAL REVIEW</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Why Our Architecture Is Different</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The literature review directly influences our database and backend design decisions.</a:t>
            </a:r>
            <a:endParaRPr sz="1250" b="0">
              <a:solidFill>
                <a:srgbClr val="646978"/>
              </a:solidFill>
              <a:latin typeface="Calibri" panose="020F0502020204030204"/>
            </a:endParaRPr>
          </a:p>
        </p:txBody>
      </p:sp>
      <p:sp>
        <p:nvSpPr>
          <p:cNvPr id="5" name="Rounded Rectangle 4"/>
          <p:cNvSpPr/>
          <p:nvPr/>
        </p:nvSpPr>
        <p:spPr>
          <a:xfrm>
            <a:off x="594360" y="1463040"/>
            <a:ext cx="3520440" cy="448056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57276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Database decision</a:t>
            </a:r>
            <a:endParaRPr sz="1500" b="1">
              <a:solidFill>
                <a:srgbClr val="1E2761"/>
              </a:solidFill>
              <a:latin typeface="Calibri" panose="020F0502020204030204"/>
            </a:endParaRPr>
          </a:p>
        </p:txBody>
      </p:sp>
      <p:sp>
        <p:nvSpPr>
          <p:cNvPr id="7" name="TextBox 6"/>
          <p:cNvSpPr txBox="1"/>
          <p:nvPr/>
        </p:nvSpPr>
        <p:spPr>
          <a:xfrm>
            <a:off x="758952" y="1947672"/>
            <a:ext cx="3191256" cy="388620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PostgreSQL as the system of record.
Why:
• Many related entities
• Strong FK constraints
• Transactions for workflows
• Normalization and reporting
• Indexing for search/filtering
• Consistent role and ownership data</a:t>
            </a:r>
            <a:endParaRPr sz="1150" b="0">
              <a:solidFill>
                <a:srgbClr val="24273A"/>
              </a:solidFill>
              <a:latin typeface="Calibri" panose="020F0502020204030204"/>
            </a:endParaRPr>
          </a:p>
        </p:txBody>
      </p:sp>
      <p:sp>
        <p:nvSpPr>
          <p:cNvPr id="8" name="Rounded Rectangle 7"/>
          <p:cNvSpPr/>
          <p:nvPr/>
        </p:nvSpPr>
        <p:spPr>
          <a:xfrm>
            <a:off x="4343400" y="1463040"/>
            <a:ext cx="3520440" cy="448056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57276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Backend decision</a:t>
            </a:r>
            <a:endParaRPr sz="1500" b="1">
              <a:solidFill>
                <a:srgbClr val="1E2761"/>
              </a:solidFill>
              <a:latin typeface="Calibri" panose="020F0502020204030204"/>
            </a:endParaRPr>
          </a:p>
        </p:txBody>
      </p:sp>
      <p:sp>
        <p:nvSpPr>
          <p:cNvPr id="10" name="TextBox 9"/>
          <p:cNvSpPr txBox="1"/>
          <p:nvPr/>
        </p:nvSpPr>
        <p:spPr>
          <a:xfrm>
            <a:off x="4507992" y="1947672"/>
            <a:ext cx="3191256" cy="388620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FastAPI-based REST backend for the project implementation.
Layering:
API / Router → Service → Repository / ORM → PostgreSQL
Cross-cutting:
JWT + RBAC, validation, exception handling, logging, testing.</a:t>
            </a:r>
            <a:endParaRPr sz="1150" b="0">
              <a:solidFill>
                <a:srgbClr val="24273A"/>
              </a:solidFill>
              <a:latin typeface="Calibri" panose="020F0502020204030204"/>
            </a:endParaRPr>
          </a:p>
        </p:txBody>
      </p:sp>
      <p:sp>
        <p:nvSpPr>
          <p:cNvPr id="11" name="Rounded Rectangle 10"/>
          <p:cNvSpPr/>
          <p:nvPr/>
        </p:nvSpPr>
        <p:spPr>
          <a:xfrm>
            <a:off x="8092440" y="1463040"/>
            <a:ext cx="3520440" cy="4480560"/>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157276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Future-ready direction</a:t>
            </a:r>
            <a:endParaRPr sz="1500" b="1">
              <a:solidFill>
                <a:srgbClr val="1E2761"/>
              </a:solidFill>
              <a:latin typeface="Calibri" panose="020F0502020204030204"/>
            </a:endParaRPr>
          </a:p>
        </p:txBody>
      </p:sp>
      <p:sp>
        <p:nvSpPr>
          <p:cNvPr id="13" name="TextBox 12"/>
          <p:cNvSpPr txBox="1"/>
          <p:nvPr/>
        </p:nvSpPr>
        <p:spPr>
          <a:xfrm>
            <a:off x="8257031" y="1947672"/>
            <a:ext cx="3191256" cy="388620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Keep the initial system modular so later modules can be separated if scale demands it.
Future extensions from Review 1:
• AI chatbot
• Smart event recommendations
• Complaint categorization
• Lost-item image matching
• Semantic/vector search
• Automated notifications</a:t>
            </a:r>
            <a:endParaRPr sz="1150" b="0">
              <a:solidFill>
                <a:srgbClr val="24273A"/>
              </a:solidFill>
              <a:latin typeface="Calibri" panose="020F0502020204030204"/>
            </a:endParaRPr>
          </a:p>
        </p:txBody>
      </p:sp>
      <p:sp>
        <p:nvSpPr>
          <p:cNvPr id="14" name="TextBox 13"/>
          <p:cNvSpPr txBox="1"/>
          <p:nvPr/>
        </p:nvSpPr>
        <p:spPr>
          <a:xfrm>
            <a:off x="685800" y="6080760"/>
            <a:ext cx="10789920" cy="292608"/>
          </a:xfrm>
          <a:prstGeom prst="rect">
            <a:avLst/>
          </a:prstGeom>
          <a:noFill/>
        </p:spPr>
        <p:txBody>
          <a:bodyPr wrap="square" lIns="27432" tIns="27432" rIns="27432" bIns="27432" anchor="t">
            <a:spAutoFit/>
          </a:bodyPr>
          <a:lstStyle/>
          <a:p>
            <a:pPr algn="ctr">
              <a:lnSpc>
                <a:spcPct val="100000"/>
              </a:lnSpc>
            </a:pPr>
            <a:r>
              <a:rPr sz="1050" b="1">
                <a:solidFill>
                  <a:srgbClr val="028090"/>
                </a:solidFill>
                <a:latin typeface="Calibri" panose="020F0502020204030204"/>
              </a:rPr>
              <a:t>Critical-review principle: we are not choosing technology because it is popular; we are matching technology to the relationships, consistency and workflows in the problem.</a:t>
            </a:r>
            <a:endParaRPr sz="1050" b="1">
              <a:solidFill>
                <a:srgbClr val="028090"/>
              </a:solidFill>
              <a:latin typeface="Calibri" panose="020F0502020204030204"/>
            </a:endParaRPr>
          </a:p>
        </p:txBody>
      </p:sp>
      <p:sp>
        <p:nvSpPr>
          <p:cNvPr id="15" name="Rectangle 14"/>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Architecture is the proposed CampusConnect direction; it is derived from the reviewed approaches and the project scope in Review 1.</a:t>
            </a:r>
            <a:endParaRPr sz="750" b="0">
              <a:solidFill>
                <a:srgbClr val="646978"/>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08 · PROPOSED APPROACH</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CampusConnect: From Literature Gap to Backend Design</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The proposed system keeps the useful ideas from existing platforms while making the database and backend visible and academically demonstrable.</a:t>
            </a:r>
            <a:endParaRPr sz="1250" b="0">
              <a:solidFill>
                <a:srgbClr val="646978"/>
              </a:solidFill>
              <a:latin typeface="Calibri" panose="020F0502020204030204"/>
            </a:endParaRPr>
          </a:p>
        </p:txBody>
      </p:sp>
      <p:sp>
        <p:nvSpPr>
          <p:cNvPr id="5" name="Rounded Rectangle 4"/>
          <p:cNvSpPr/>
          <p:nvPr/>
        </p:nvSpPr>
        <p:spPr>
          <a:xfrm>
            <a:off x="594360" y="1874519"/>
            <a:ext cx="1874519" cy="1325880"/>
          </a:xfrm>
          <a:prstGeom prst="roundRect">
            <a:avLst/>
          </a:prstGeom>
          <a:solidFill>
            <a:srgbClr val="F4F7FC"/>
          </a:solidFill>
          <a:ln>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2039112"/>
            <a:ext cx="1655063" cy="292608"/>
          </a:xfrm>
          <a:prstGeom prst="rect">
            <a:avLst/>
          </a:prstGeom>
          <a:noFill/>
        </p:spPr>
        <p:txBody>
          <a:bodyPr wrap="square" lIns="27432" tIns="27432" rIns="27432" bIns="27432" anchor="t">
            <a:spAutoFit/>
          </a:bodyPr>
          <a:lstStyle/>
          <a:p>
            <a:pPr algn="ctr">
              <a:lnSpc>
                <a:spcPct val="100000"/>
              </a:lnSpc>
            </a:pPr>
            <a:r>
              <a:rPr sz="1300" b="1">
                <a:solidFill>
                  <a:srgbClr val="1E2761"/>
                </a:solidFill>
                <a:latin typeface="Calibri" panose="020F0502020204030204"/>
              </a:rPr>
              <a:t>Student / Admin</a:t>
            </a:r>
            <a:endParaRPr sz="1300" b="1">
              <a:solidFill>
                <a:srgbClr val="1E2761"/>
              </a:solidFill>
              <a:latin typeface="Calibri" panose="020F0502020204030204"/>
            </a:endParaRPr>
          </a:p>
        </p:txBody>
      </p:sp>
      <p:sp>
        <p:nvSpPr>
          <p:cNvPr id="7" name="TextBox 6"/>
          <p:cNvSpPr txBox="1"/>
          <p:nvPr/>
        </p:nvSpPr>
        <p:spPr>
          <a:xfrm>
            <a:off x="704088" y="2404872"/>
            <a:ext cx="1655063" cy="594360"/>
          </a:xfrm>
          <a:prstGeom prst="rect">
            <a:avLst/>
          </a:prstGeom>
          <a:noFill/>
        </p:spPr>
        <p:txBody>
          <a:bodyPr wrap="square" lIns="27432" tIns="27432" rIns="27432" bIns="27432" anchor="t">
            <a:spAutoFit/>
          </a:bodyPr>
          <a:lstStyle/>
          <a:p>
            <a:pPr algn="ctr">
              <a:lnSpc>
                <a:spcPct val="100000"/>
              </a:lnSpc>
            </a:pPr>
            <a:r>
              <a:rPr sz="1050" b="0">
                <a:solidFill>
                  <a:srgbClr val="24273A"/>
                </a:solidFill>
                <a:latin typeface="Calibri" panose="020F0502020204030204"/>
              </a:rPr>
              <a:t>React UI</a:t>
            </a:r>
            <a:endParaRPr sz="1050" b="0">
              <a:solidFill>
                <a:srgbClr val="24273A"/>
              </a:solidFill>
              <a:latin typeface="Calibri" panose="020F0502020204030204"/>
            </a:endParaRPr>
          </a:p>
        </p:txBody>
      </p:sp>
      <p:sp>
        <p:nvSpPr>
          <p:cNvPr id="8" name="TextBox 7"/>
          <p:cNvSpPr txBox="1"/>
          <p:nvPr/>
        </p:nvSpPr>
        <p:spPr>
          <a:xfrm>
            <a:off x="2505456" y="2295144"/>
            <a:ext cx="228600" cy="274320"/>
          </a:xfrm>
          <a:prstGeom prst="rect">
            <a:avLst/>
          </a:prstGeom>
          <a:noFill/>
        </p:spPr>
        <p:txBody>
          <a:bodyPr wrap="square" lIns="27432" tIns="27432" rIns="27432" bIns="27432" anchor="t">
            <a:spAutoFit/>
          </a:bodyPr>
          <a:lstStyle/>
          <a:p>
            <a:pPr algn="ctr">
              <a:lnSpc>
                <a:spcPct val="100000"/>
              </a:lnSpc>
            </a:pPr>
            <a:r>
              <a:rPr sz="1800" b="1">
                <a:solidFill>
                  <a:srgbClr val="028090"/>
                </a:solidFill>
                <a:latin typeface="Calibri" panose="020F0502020204030204"/>
              </a:rPr>
              <a:t>→</a:t>
            </a:r>
            <a:endParaRPr sz="1800" b="1">
              <a:solidFill>
                <a:srgbClr val="028090"/>
              </a:solidFill>
              <a:latin typeface="Calibri" panose="020F0502020204030204"/>
            </a:endParaRPr>
          </a:p>
        </p:txBody>
      </p:sp>
      <p:sp>
        <p:nvSpPr>
          <p:cNvPr id="9" name="Rounded Rectangle 8"/>
          <p:cNvSpPr/>
          <p:nvPr/>
        </p:nvSpPr>
        <p:spPr>
          <a:xfrm>
            <a:off x="2633472" y="1874519"/>
            <a:ext cx="1645920" cy="1325880"/>
          </a:xfrm>
          <a:prstGeom prst="roundRect">
            <a:avLst/>
          </a:prstGeom>
          <a:solidFill>
            <a:srgbClr val="1E2761"/>
          </a:solidFill>
          <a:ln>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2039112"/>
            <a:ext cx="1426464" cy="292608"/>
          </a:xfrm>
          <a:prstGeom prst="rect">
            <a:avLst/>
          </a:prstGeom>
          <a:noFill/>
        </p:spPr>
        <p:txBody>
          <a:bodyPr wrap="square" lIns="27432" tIns="27432" rIns="27432" bIns="27432" anchor="t">
            <a:spAutoFit/>
          </a:bodyPr>
          <a:lstStyle/>
          <a:p>
            <a:pPr algn="ctr">
              <a:lnSpc>
                <a:spcPct val="100000"/>
              </a:lnSpc>
            </a:pPr>
            <a:r>
              <a:rPr sz="1300" b="1">
                <a:solidFill>
                  <a:srgbClr val="FFFFFF"/>
                </a:solidFill>
                <a:latin typeface="Calibri" panose="020F0502020204030204"/>
              </a:rPr>
              <a:t>REST API</a:t>
            </a:r>
            <a:endParaRPr sz="1300" b="1">
              <a:solidFill>
                <a:srgbClr val="FFFFFF"/>
              </a:solidFill>
              <a:latin typeface="Calibri" panose="020F0502020204030204"/>
            </a:endParaRPr>
          </a:p>
        </p:txBody>
      </p:sp>
      <p:sp>
        <p:nvSpPr>
          <p:cNvPr id="11" name="TextBox 10"/>
          <p:cNvSpPr txBox="1"/>
          <p:nvPr/>
        </p:nvSpPr>
        <p:spPr>
          <a:xfrm>
            <a:off x="2743200" y="2404872"/>
            <a:ext cx="1426464" cy="594360"/>
          </a:xfrm>
          <a:prstGeom prst="rect">
            <a:avLst/>
          </a:prstGeom>
          <a:noFill/>
        </p:spPr>
        <p:txBody>
          <a:bodyPr wrap="square" lIns="27432" tIns="27432" rIns="27432" bIns="27432" anchor="t">
            <a:spAutoFit/>
          </a:bodyPr>
          <a:lstStyle/>
          <a:p>
            <a:pPr algn="ctr">
              <a:lnSpc>
                <a:spcPct val="100000"/>
              </a:lnSpc>
            </a:pPr>
            <a:r>
              <a:rPr sz="1050" b="0">
                <a:solidFill>
                  <a:srgbClr val="FFFFFF"/>
                </a:solidFill>
                <a:latin typeface="Calibri" panose="020F0502020204030204"/>
              </a:rPr>
              <a:t>FastAPI</a:t>
            </a:r>
            <a:endParaRPr sz="1050" b="0">
              <a:solidFill>
                <a:srgbClr val="FFFFFF"/>
              </a:solidFill>
              <a:latin typeface="Calibri" panose="020F0502020204030204"/>
            </a:endParaRPr>
          </a:p>
        </p:txBody>
      </p:sp>
      <p:sp>
        <p:nvSpPr>
          <p:cNvPr id="12" name="TextBox 11"/>
          <p:cNvSpPr txBox="1"/>
          <p:nvPr/>
        </p:nvSpPr>
        <p:spPr>
          <a:xfrm>
            <a:off x="4315968" y="2295144"/>
            <a:ext cx="228600" cy="274320"/>
          </a:xfrm>
          <a:prstGeom prst="rect">
            <a:avLst/>
          </a:prstGeom>
          <a:noFill/>
        </p:spPr>
        <p:txBody>
          <a:bodyPr wrap="square" lIns="27432" tIns="27432" rIns="27432" bIns="27432" anchor="t">
            <a:spAutoFit/>
          </a:bodyPr>
          <a:lstStyle/>
          <a:p>
            <a:pPr algn="ctr">
              <a:lnSpc>
                <a:spcPct val="100000"/>
              </a:lnSpc>
            </a:pPr>
            <a:r>
              <a:rPr sz="1800" b="1">
                <a:solidFill>
                  <a:srgbClr val="028090"/>
                </a:solidFill>
                <a:latin typeface="Calibri" panose="020F0502020204030204"/>
              </a:rPr>
              <a:t>→</a:t>
            </a:r>
            <a:endParaRPr sz="1800" b="1">
              <a:solidFill>
                <a:srgbClr val="028090"/>
              </a:solidFill>
              <a:latin typeface="Calibri" panose="020F0502020204030204"/>
            </a:endParaRPr>
          </a:p>
        </p:txBody>
      </p:sp>
      <p:sp>
        <p:nvSpPr>
          <p:cNvPr id="13" name="Rounded Rectangle 12"/>
          <p:cNvSpPr/>
          <p:nvPr/>
        </p:nvSpPr>
        <p:spPr>
          <a:xfrm>
            <a:off x="4443983" y="1874519"/>
            <a:ext cx="1965960" cy="1325880"/>
          </a:xfrm>
          <a:prstGeom prst="roundRect">
            <a:avLst/>
          </a:prstGeom>
          <a:solidFill>
            <a:srgbClr val="F4F7FC"/>
          </a:solidFill>
          <a:ln>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2039112"/>
            <a:ext cx="1746504" cy="292608"/>
          </a:xfrm>
          <a:prstGeom prst="rect">
            <a:avLst/>
          </a:prstGeom>
          <a:noFill/>
        </p:spPr>
        <p:txBody>
          <a:bodyPr wrap="square" lIns="27432" tIns="27432" rIns="27432" bIns="27432" anchor="t">
            <a:spAutoFit/>
          </a:bodyPr>
          <a:lstStyle/>
          <a:p>
            <a:pPr algn="ctr">
              <a:lnSpc>
                <a:spcPct val="100000"/>
              </a:lnSpc>
            </a:pPr>
            <a:r>
              <a:rPr sz="1300" b="1">
                <a:solidFill>
                  <a:srgbClr val="1E2761"/>
                </a:solidFill>
                <a:latin typeface="Calibri" panose="020F0502020204030204"/>
              </a:rPr>
              <a:t>Business Logic</a:t>
            </a:r>
            <a:endParaRPr sz="1300" b="1">
              <a:solidFill>
                <a:srgbClr val="1E2761"/>
              </a:solidFill>
              <a:latin typeface="Calibri" panose="020F0502020204030204"/>
            </a:endParaRPr>
          </a:p>
        </p:txBody>
      </p:sp>
      <p:sp>
        <p:nvSpPr>
          <p:cNvPr id="15" name="TextBox 14"/>
          <p:cNvSpPr txBox="1"/>
          <p:nvPr/>
        </p:nvSpPr>
        <p:spPr>
          <a:xfrm>
            <a:off x="4553712" y="2404872"/>
            <a:ext cx="1746504" cy="594360"/>
          </a:xfrm>
          <a:prstGeom prst="rect">
            <a:avLst/>
          </a:prstGeom>
          <a:noFill/>
        </p:spPr>
        <p:txBody>
          <a:bodyPr wrap="square" lIns="27432" tIns="27432" rIns="27432" bIns="27432" anchor="t">
            <a:spAutoFit/>
          </a:bodyPr>
          <a:lstStyle/>
          <a:p>
            <a:pPr algn="ctr">
              <a:lnSpc>
                <a:spcPct val="100000"/>
              </a:lnSpc>
            </a:pPr>
            <a:r>
              <a:rPr sz="1050" b="0">
                <a:solidFill>
                  <a:srgbClr val="24273A"/>
                </a:solidFill>
                <a:latin typeface="Calibri" panose="020F0502020204030204"/>
              </a:rPr>
              <a:t>Service Layer</a:t>
            </a:r>
            <a:endParaRPr sz="1050" b="0">
              <a:solidFill>
                <a:srgbClr val="24273A"/>
              </a:solidFill>
              <a:latin typeface="Calibri" panose="020F0502020204030204"/>
            </a:endParaRPr>
          </a:p>
        </p:txBody>
      </p:sp>
      <p:sp>
        <p:nvSpPr>
          <p:cNvPr id="16" name="TextBox 15"/>
          <p:cNvSpPr txBox="1"/>
          <p:nvPr/>
        </p:nvSpPr>
        <p:spPr>
          <a:xfrm>
            <a:off x="6446520" y="2295144"/>
            <a:ext cx="228600" cy="274320"/>
          </a:xfrm>
          <a:prstGeom prst="rect">
            <a:avLst/>
          </a:prstGeom>
          <a:noFill/>
        </p:spPr>
        <p:txBody>
          <a:bodyPr wrap="square" lIns="27432" tIns="27432" rIns="27432" bIns="27432" anchor="t">
            <a:spAutoFit/>
          </a:bodyPr>
          <a:lstStyle/>
          <a:p>
            <a:pPr algn="ctr">
              <a:lnSpc>
                <a:spcPct val="100000"/>
              </a:lnSpc>
            </a:pPr>
            <a:r>
              <a:rPr sz="1800" b="1">
                <a:solidFill>
                  <a:srgbClr val="028090"/>
                </a:solidFill>
                <a:latin typeface="Calibri" panose="020F0502020204030204"/>
              </a:rPr>
              <a:t>→</a:t>
            </a:r>
            <a:endParaRPr sz="1800" b="1">
              <a:solidFill>
                <a:srgbClr val="028090"/>
              </a:solidFill>
              <a:latin typeface="Calibri" panose="020F0502020204030204"/>
            </a:endParaRPr>
          </a:p>
        </p:txBody>
      </p:sp>
      <p:sp>
        <p:nvSpPr>
          <p:cNvPr id="17" name="Rounded Rectangle 16"/>
          <p:cNvSpPr/>
          <p:nvPr/>
        </p:nvSpPr>
        <p:spPr>
          <a:xfrm>
            <a:off x="6574536" y="1874519"/>
            <a:ext cx="1737360" cy="1325880"/>
          </a:xfrm>
          <a:prstGeom prst="roundRect">
            <a:avLst/>
          </a:prstGeom>
          <a:solidFill>
            <a:srgbClr val="1E2761"/>
          </a:solidFill>
          <a:ln>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84264" y="2039112"/>
            <a:ext cx="1517904" cy="292608"/>
          </a:xfrm>
          <a:prstGeom prst="rect">
            <a:avLst/>
          </a:prstGeom>
          <a:noFill/>
        </p:spPr>
        <p:txBody>
          <a:bodyPr wrap="square" lIns="27432" tIns="27432" rIns="27432" bIns="27432" anchor="t">
            <a:spAutoFit/>
          </a:bodyPr>
          <a:lstStyle/>
          <a:p>
            <a:pPr algn="ctr">
              <a:lnSpc>
                <a:spcPct val="100000"/>
              </a:lnSpc>
            </a:pPr>
            <a:r>
              <a:rPr sz="1300" b="1">
                <a:solidFill>
                  <a:srgbClr val="FFFFFF"/>
                </a:solidFill>
                <a:latin typeface="Calibri" panose="020F0502020204030204"/>
              </a:rPr>
              <a:t>Persistence</a:t>
            </a:r>
            <a:endParaRPr sz="1300" b="1">
              <a:solidFill>
                <a:srgbClr val="FFFFFF"/>
              </a:solidFill>
              <a:latin typeface="Calibri" panose="020F0502020204030204"/>
            </a:endParaRPr>
          </a:p>
        </p:txBody>
      </p:sp>
      <p:sp>
        <p:nvSpPr>
          <p:cNvPr id="19" name="TextBox 18"/>
          <p:cNvSpPr txBox="1"/>
          <p:nvPr/>
        </p:nvSpPr>
        <p:spPr>
          <a:xfrm>
            <a:off x="6684264" y="2404872"/>
            <a:ext cx="1517904" cy="594360"/>
          </a:xfrm>
          <a:prstGeom prst="rect">
            <a:avLst/>
          </a:prstGeom>
          <a:noFill/>
        </p:spPr>
        <p:txBody>
          <a:bodyPr wrap="square" lIns="27432" tIns="27432" rIns="27432" bIns="27432" anchor="t">
            <a:spAutoFit/>
          </a:bodyPr>
          <a:lstStyle/>
          <a:p>
            <a:pPr algn="ctr">
              <a:lnSpc>
                <a:spcPct val="100000"/>
              </a:lnSpc>
            </a:pPr>
            <a:r>
              <a:rPr sz="1050" b="0">
                <a:solidFill>
                  <a:srgbClr val="FFFFFF"/>
                </a:solidFill>
                <a:latin typeface="Calibri" panose="020F0502020204030204"/>
              </a:rPr>
              <a:t>PostgreSQL</a:t>
            </a:r>
            <a:endParaRPr sz="1050" b="0">
              <a:solidFill>
                <a:srgbClr val="FFFFFF"/>
              </a:solidFill>
              <a:latin typeface="Calibri" panose="020F0502020204030204"/>
            </a:endParaRPr>
          </a:p>
        </p:txBody>
      </p:sp>
      <p:sp>
        <p:nvSpPr>
          <p:cNvPr id="20" name="TextBox 19"/>
          <p:cNvSpPr txBox="1"/>
          <p:nvPr/>
        </p:nvSpPr>
        <p:spPr>
          <a:xfrm>
            <a:off x="8348471" y="2295144"/>
            <a:ext cx="228600" cy="274320"/>
          </a:xfrm>
          <a:prstGeom prst="rect">
            <a:avLst/>
          </a:prstGeom>
          <a:noFill/>
        </p:spPr>
        <p:txBody>
          <a:bodyPr wrap="square" lIns="27432" tIns="27432" rIns="27432" bIns="27432" anchor="t">
            <a:spAutoFit/>
          </a:bodyPr>
          <a:lstStyle/>
          <a:p>
            <a:pPr algn="ctr">
              <a:lnSpc>
                <a:spcPct val="100000"/>
              </a:lnSpc>
            </a:pPr>
            <a:r>
              <a:rPr sz="1800" b="1">
                <a:solidFill>
                  <a:srgbClr val="028090"/>
                </a:solidFill>
                <a:latin typeface="Calibri" panose="020F0502020204030204"/>
              </a:rPr>
              <a:t>→</a:t>
            </a:r>
            <a:endParaRPr sz="1800" b="1">
              <a:solidFill>
                <a:srgbClr val="028090"/>
              </a:solidFill>
              <a:latin typeface="Calibri" panose="020F0502020204030204"/>
            </a:endParaRPr>
          </a:p>
        </p:txBody>
      </p:sp>
      <p:sp>
        <p:nvSpPr>
          <p:cNvPr id="21" name="Rounded Rectangle 20"/>
          <p:cNvSpPr/>
          <p:nvPr/>
        </p:nvSpPr>
        <p:spPr>
          <a:xfrm>
            <a:off x="8476488" y="1874519"/>
            <a:ext cx="3657600" cy="1325880"/>
          </a:xfrm>
          <a:prstGeom prst="roundRect">
            <a:avLst/>
          </a:prstGeom>
          <a:solidFill>
            <a:srgbClr val="F4F7FC"/>
          </a:solidFill>
          <a:ln>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86215" y="2039112"/>
            <a:ext cx="3438144" cy="292608"/>
          </a:xfrm>
          <a:prstGeom prst="rect">
            <a:avLst/>
          </a:prstGeom>
          <a:noFill/>
        </p:spPr>
        <p:txBody>
          <a:bodyPr wrap="square" lIns="27432" tIns="27432" rIns="27432" bIns="27432" anchor="t">
            <a:spAutoFit/>
          </a:bodyPr>
          <a:lstStyle/>
          <a:p>
            <a:pPr algn="ctr">
              <a:lnSpc>
                <a:spcPct val="100000"/>
              </a:lnSpc>
            </a:pPr>
            <a:r>
              <a:rPr sz="1300" b="1">
                <a:solidFill>
                  <a:srgbClr val="1E2761"/>
                </a:solidFill>
                <a:latin typeface="Calibri" panose="020F0502020204030204"/>
              </a:rPr>
              <a:t>Modules</a:t>
            </a:r>
            <a:endParaRPr sz="1300" b="1">
              <a:solidFill>
                <a:srgbClr val="1E2761"/>
              </a:solidFill>
              <a:latin typeface="Calibri" panose="020F0502020204030204"/>
            </a:endParaRPr>
          </a:p>
        </p:txBody>
      </p:sp>
      <p:sp>
        <p:nvSpPr>
          <p:cNvPr id="23" name="TextBox 22"/>
          <p:cNvSpPr txBox="1"/>
          <p:nvPr/>
        </p:nvSpPr>
        <p:spPr>
          <a:xfrm>
            <a:off x="8586215" y="2404872"/>
            <a:ext cx="3438144" cy="594360"/>
          </a:xfrm>
          <a:prstGeom prst="rect">
            <a:avLst/>
          </a:prstGeom>
          <a:noFill/>
        </p:spPr>
        <p:txBody>
          <a:bodyPr wrap="square" lIns="27432" tIns="27432" rIns="27432" bIns="27432" anchor="t">
            <a:spAutoFit/>
          </a:bodyPr>
          <a:lstStyle/>
          <a:p>
            <a:pPr algn="ctr">
              <a:lnSpc>
                <a:spcPct val="100000"/>
              </a:lnSpc>
            </a:pPr>
            <a:r>
              <a:rPr sz="1050" b="0">
                <a:solidFill>
                  <a:srgbClr val="24273A"/>
                </a:solidFill>
                <a:latin typeface="Calibri" panose="020F0502020204030204"/>
              </a:rPr>
              <a:t>Clubs · Events · Lost &amp; Found
Marketplace · Complaints · Announcements</a:t>
            </a:r>
            <a:endParaRPr sz="1050" b="0">
              <a:solidFill>
                <a:srgbClr val="24273A"/>
              </a:solidFill>
              <a:latin typeface="Calibri" panose="020F0502020204030204"/>
            </a:endParaRPr>
          </a:p>
        </p:txBody>
      </p:sp>
      <p:sp>
        <p:nvSpPr>
          <p:cNvPr id="24" name="Rounded Rectangle 23"/>
          <p:cNvSpPr/>
          <p:nvPr/>
        </p:nvSpPr>
        <p:spPr>
          <a:xfrm>
            <a:off x="594360" y="3703320"/>
            <a:ext cx="3520440" cy="1874519"/>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381304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Core relational entities</a:t>
            </a:r>
            <a:endParaRPr sz="1500" b="1">
              <a:solidFill>
                <a:srgbClr val="1E2761"/>
              </a:solidFill>
              <a:latin typeface="Calibri" panose="020F0502020204030204"/>
            </a:endParaRPr>
          </a:p>
        </p:txBody>
      </p:sp>
      <p:sp>
        <p:nvSpPr>
          <p:cNvPr id="26" name="TextBox 25"/>
          <p:cNvSpPr txBox="1"/>
          <p:nvPr/>
        </p:nvSpPr>
        <p:spPr>
          <a:xfrm>
            <a:off x="758952" y="4187952"/>
            <a:ext cx="3191256" cy="128016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Users, Clubs, ClubMembers, Events, EventRegistrations, LostItems, FoundItems, MarketplaceItems, Complaints, Announcements, Notifications.</a:t>
            </a:r>
            <a:endParaRPr sz="1150" b="0">
              <a:solidFill>
                <a:srgbClr val="24273A"/>
              </a:solidFill>
              <a:latin typeface="Calibri" panose="020F0502020204030204"/>
            </a:endParaRPr>
          </a:p>
        </p:txBody>
      </p:sp>
      <p:sp>
        <p:nvSpPr>
          <p:cNvPr id="27" name="Rounded Rectangle 26"/>
          <p:cNvSpPr/>
          <p:nvPr/>
        </p:nvSpPr>
        <p:spPr>
          <a:xfrm>
            <a:off x="4343400" y="3703320"/>
            <a:ext cx="3520440" cy="1874519"/>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07992" y="381304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DBE demonstrations</a:t>
            </a:r>
            <a:endParaRPr sz="1500" b="1">
              <a:solidFill>
                <a:srgbClr val="1E2761"/>
              </a:solidFill>
              <a:latin typeface="Calibri" panose="020F0502020204030204"/>
            </a:endParaRPr>
          </a:p>
        </p:txBody>
      </p:sp>
      <p:sp>
        <p:nvSpPr>
          <p:cNvPr id="29" name="TextBox 28"/>
          <p:cNvSpPr txBox="1"/>
          <p:nvPr/>
        </p:nvSpPr>
        <p:spPr>
          <a:xfrm>
            <a:off x="4507992" y="4187952"/>
            <a:ext cx="3191256" cy="128016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ER model → 3NF → SQL DDL → constraints → indexes → joins/aggregates → transactions → role-based access → query testing.</a:t>
            </a:r>
            <a:endParaRPr sz="1150" b="0">
              <a:solidFill>
                <a:srgbClr val="24273A"/>
              </a:solidFill>
              <a:latin typeface="Calibri" panose="020F0502020204030204"/>
            </a:endParaRPr>
          </a:p>
        </p:txBody>
      </p:sp>
      <p:sp>
        <p:nvSpPr>
          <p:cNvPr id="30" name="Rounded Rectangle 29"/>
          <p:cNvSpPr/>
          <p:nvPr/>
        </p:nvSpPr>
        <p:spPr>
          <a:xfrm>
            <a:off x="8092440" y="3703320"/>
            <a:ext cx="3520440" cy="1874519"/>
          </a:xfrm>
          <a:prstGeom prst="roundRect">
            <a:avLst/>
          </a:prstGeom>
          <a:solidFill>
            <a:srgbClr val="F4F7FC"/>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57031" y="3813048"/>
            <a:ext cx="3191256" cy="310896"/>
          </a:xfrm>
          <a:prstGeom prst="rect">
            <a:avLst/>
          </a:prstGeom>
          <a:noFill/>
        </p:spPr>
        <p:txBody>
          <a:bodyPr wrap="square" lIns="27432" tIns="27432" rIns="27432" bIns="27432" anchor="t">
            <a:spAutoFit/>
          </a:bodyPr>
          <a:lstStyle/>
          <a:p>
            <a:pPr algn="l">
              <a:lnSpc>
                <a:spcPct val="100000"/>
              </a:lnSpc>
            </a:pPr>
            <a:r>
              <a:rPr sz="1500" b="1">
                <a:solidFill>
                  <a:srgbClr val="1E2761"/>
                </a:solidFill>
                <a:latin typeface="Calibri" panose="020F0502020204030204"/>
              </a:rPr>
              <a:t>Backend demonstrations</a:t>
            </a:r>
            <a:endParaRPr sz="1500" b="1">
              <a:solidFill>
                <a:srgbClr val="1E2761"/>
              </a:solidFill>
              <a:latin typeface="Calibri" panose="020F0502020204030204"/>
            </a:endParaRPr>
          </a:p>
        </p:txBody>
      </p:sp>
      <p:sp>
        <p:nvSpPr>
          <p:cNvPr id="32" name="TextBox 31"/>
          <p:cNvSpPr txBox="1"/>
          <p:nvPr/>
        </p:nvSpPr>
        <p:spPr>
          <a:xfrm>
            <a:off x="8257031" y="4187952"/>
            <a:ext cx="3191256" cy="1280160"/>
          </a:xfrm>
          <a:prstGeom prst="rect">
            <a:avLst/>
          </a:prstGeom>
          <a:noFill/>
        </p:spPr>
        <p:txBody>
          <a:bodyPr wrap="square" lIns="27432" tIns="27432" rIns="27432" bIns="27432" anchor="t">
            <a:spAutoFit/>
          </a:bodyPr>
          <a:lstStyle/>
          <a:p>
            <a:pPr algn="l">
              <a:lnSpc>
                <a:spcPct val="100000"/>
              </a:lnSpc>
            </a:pPr>
            <a:r>
              <a:rPr sz="1150" b="0">
                <a:solidFill>
                  <a:srgbClr val="24273A"/>
                </a:solidFill>
                <a:latin typeface="Calibri" panose="020F0502020204030204"/>
              </a:rPr>
              <a:t>REST endpoints → JWT/RBAC → validation → service/repository layers → Postman/pytest testing → structured error handling.</a:t>
            </a:r>
            <a:endParaRPr sz="1150" b="0">
              <a:solidFill>
                <a:srgbClr val="24273A"/>
              </a:solidFill>
              <a:latin typeface="Calibri" panose="020F0502020204030204"/>
            </a:endParaRPr>
          </a:p>
        </p:txBody>
      </p:sp>
      <p:sp>
        <p:nvSpPr>
          <p:cNvPr id="33" name="Rectangle 32"/>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Proposed architecture based on Review-1 scope and the critical comparison above.</a:t>
            </a:r>
            <a:endParaRPr sz="750" b="0">
              <a:solidFill>
                <a:srgbClr val="646978"/>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28600"/>
            <a:ext cx="7132320" cy="292608"/>
          </a:xfrm>
          <a:prstGeom prst="rect">
            <a:avLst/>
          </a:prstGeom>
          <a:noFill/>
        </p:spPr>
        <p:txBody>
          <a:bodyPr wrap="square" lIns="27432" tIns="27432" rIns="27432" bIns="27432" anchor="t">
            <a:spAutoFit/>
          </a:bodyPr>
          <a:lstStyle/>
          <a:p>
            <a:pPr algn="l">
              <a:lnSpc>
                <a:spcPct val="100000"/>
              </a:lnSpc>
            </a:pPr>
            <a:r>
              <a:rPr sz="1050" b="1">
                <a:solidFill>
                  <a:srgbClr val="028090"/>
                </a:solidFill>
                <a:latin typeface="Calibri" panose="020F0502020204030204"/>
              </a:rPr>
              <a:t>09 · SOURCES</a:t>
            </a:r>
            <a:endParaRPr sz="1050" b="1">
              <a:solidFill>
                <a:srgbClr val="028090"/>
              </a:solidFill>
              <a:latin typeface="Calibri" panose="020F0502020204030204"/>
            </a:endParaRPr>
          </a:p>
        </p:txBody>
      </p:sp>
      <p:sp>
        <p:nvSpPr>
          <p:cNvPr id="3" name="TextBox 2"/>
          <p:cNvSpPr txBox="1"/>
          <p:nvPr/>
        </p:nvSpPr>
        <p:spPr>
          <a:xfrm>
            <a:off x="548640" y="530352"/>
            <a:ext cx="10881360" cy="566928"/>
          </a:xfrm>
          <a:prstGeom prst="rect">
            <a:avLst/>
          </a:prstGeom>
          <a:noFill/>
        </p:spPr>
        <p:txBody>
          <a:bodyPr wrap="square" lIns="27432" tIns="27432" rIns="27432" bIns="27432" anchor="t">
            <a:spAutoFit/>
          </a:bodyPr>
          <a:lstStyle/>
          <a:p>
            <a:pPr algn="l">
              <a:lnSpc>
                <a:spcPct val="100000"/>
              </a:lnSpc>
            </a:pPr>
            <a:r>
              <a:rPr sz="2500" b="1">
                <a:solidFill>
                  <a:srgbClr val="1E2761"/>
                </a:solidFill>
                <a:latin typeface="Cambria" panose="02040503050406030204"/>
              </a:rPr>
              <a:t>Research Sites &amp; References Used</a:t>
            </a:r>
            <a:endParaRPr sz="2500" b="1">
              <a:solidFill>
                <a:srgbClr val="1E2761"/>
              </a:solidFill>
              <a:latin typeface="Cambria" panose="02040503050406030204"/>
            </a:endParaRPr>
          </a:p>
        </p:txBody>
      </p:sp>
      <p:sp>
        <p:nvSpPr>
          <p:cNvPr id="4" name="TextBox 3"/>
          <p:cNvSpPr txBox="1"/>
          <p:nvPr/>
        </p:nvSpPr>
        <p:spPr>
          <a:xfrm>
            <a:off x="566928" y="1115568"/>
            <a:ext cx="10789920" cy="438912"/>
          </a:xfrm>
          <a:prstGeom prst="rect">
            <a:avLst/>
          </a:prstGeom>
          <a:noFill/>
        </p:spPr>
        <p:txBody>
          <a:bodyPr wrap="square" lIns="27432" tIns="27432" rIns="27432" bIns="27432" anchor="t">
            <a:spAutoFit/>
          </a:bodyPr>
          <a:lstStyle/>
          <a:p>
            <a:pPr algn="l">
              <a:lnSpc>
                <a:spcPct val="100000"/>
              </a:lnSpc>
            </a:pPr>
            <a:r>
              <a:rPr sz="1250" b="0">
                <a:solidFill>
                  <a:srgbClr val="646978"/>
                </a:solidFill>
                <a:latin typeface="Calibri" panose="020F0502020204030204"/>
              </a:rPr>
              <a:t>Academic/official sources were prioritized; public GitHub implementations were used to inspect concrete stacks and database approaches.</a:t>
            </a:r>
            <a:endParaRPr sz="1250" b="0">
              <a:solidFill>
                <a:srgbClr val="646978"/>
              </a:solidFill>
              <a:latin typeface="Calibri" panose="020F0502020204030204"/>
            </a:endParaRPr>
          </a:p>
        </p:txBody>
      </p:sp>
      <p:sp>
        <p:nvSpPr>
          <p:cNvPr id="5" name="TextBox 4"/>
          <p:cNvSpPr txBox="1"/>
          <p:nvPr/>
        </p:nvSpPr>
        <p:spPr>
          <a:xfrm>
            <a:off x="640080" y="1508760"/>
            <a:ext cx="2011680" cy="384048"/>
          </a:xfrm>
          <a:prstGeom prst="rect">
            <a:avLst/>
          </a:prstGeom>
          <a:noFill/>
        </p:spPr>
        <p:txBody>
          <a:bodyPr wrap="square" lIns="27432" tIns="27432" rIns="27432" bIns="27432" anchor="t">
            <a:spAutoFit/>
          </a:bodyPr>
          <a:lstStyle/>
          <a:p>
            <a:pPr algn="l">
              <a:lnSpc>
                <a:spcPct val="100000"/>
              </a:lnSpc>
            </a:pPr>
            <a:r>
              <a:rPr sz="1150" b="1">
                <a:solidFill>
                  <a:srgbClr val="028090"/>
                </a:solidFill>
                <a:latin typeface="Calibri" panose="020F0502020204030204"/>
              </a:rPr>
              <a:t>[1] CampusGroups</a:t>
            </a:r>
            <a:endParaRPr sz="1150" b="1">
              <a:solidFill>
                <a:srgbClr val="028090"/>
              </a:solidFill>
              <a:latin typeface="Calibri" panose="020F0502020204030204"/>
            </a:endParaRPr>
          </a:p>
        </p:txBody>
      </p:sp>
      <p:sp>
        <p:nvSpPr>
          <p:cNvPr id="6" name="TextBox 5"/>
          <p:cNvSpPr txBox="1"/>
          <p:nvPr/>
        </p:nvSpPr>
        <p:spPr>
          <a:xfrm>
            <a:off x="2651760" y="1508760"/>
            <a:ext cx="5852160" cy="502920"/>
          </a:xfrm>
          <a:prstGeom prst="rect">
            <a:avLst/>
          </a:prstGeom>
          <a:noFill/>
        </p:spPr>
        <p:txBody>
          <a:bodyPr wrap="square" lIns="27432" tIns="27432" rIns="27432" bIns="27432" anchor="t">
            <a:spAutoFit/>
          </a:bodyPr>
          <a:lstStyle/>
          <a:p>
            <a:pPr algn="l">
              <a:lnSpc>
                <a:spcPct val="100000"/>
              </a:lnSpc>
            </a:pPr>
            <a:r>
              <a:rPr sz="1050" b="0">
                <a:solidFill>
                  <a:srgbClr val="24273A"/>
                </a:solidFill>
                <a:latin typeface="Calibri" panose="020F0502020204030204"/>
              </a:rPr>
              <a:t>Official product / campus management / groups / events pages</a:t>
            </a:r>
            <a:endParaRPr sz="1050" b="0">
              <a:solidFill>
                <a:srgbClr val="24273A"/>
              </a:solidFill>
              <a:latin typeface="Calibri" panose="020F0502020204030204"/>
            </a:endParaRPr>
          </a:p>
        </p:txBody>
      </p:sp>
      <p:sp>
        <p:nvSpPr>
          <p:cNvPr id="7" name="TextBox 6">
            <a:hlinkClick r:id="rId1"/>
          </p:cNvPr>
          <p:cNvSpPr txBox="1"/>
          <p:nvPr/>
        </p:nvSpPr>
        <p:spPr>
          <a:xfrm>
            <a:off x="8549640" y="1508760"/>
            <a:ext cx="2971800" cy="502920"/>
          </a:xfrm>
          <a:prstGeom prst="rect">
            <a:avLst/>
          </a:prstGeom>
          <a:noFill/>
        </p:spPr>
        <p:txBody>
          <a:bodyPr wrap="square" lIns="27432" tIns="27432" rIns="27432" bIns="27432" anchor="t">
            <a:spAutoFit/>
          </a:bodyPr>
          <a:lstStyle/>
          <a:p>
            <a:pPr algn="l">
              <a:lnSpc>
                <a:spcPct val="100000"/>
              </a:lnSpc>
            </a:pPr>
            <a:r>
              <a:rPr sz="920" b="0">
                <a:solidFill>
                  <a:srgbClr val="1E2761"/>
                </a:solidFill>
                <a:latin typeface="Calibri" panose="020F0502020204030204"/>
              </a:rPr>
              <a:t>campusgroups.com</a:t>
            </a:r>
            <a:endParaRPr sz="920" b="0">
              <a:solidFill>
                <a:srgbClr val="1E2761"/>
              </a:solidFill>
              <a:latin typeface="Calibri" panose="020F0502020204030204"/>
            </a:endParaRPr>
          </a:p>
        </p:txBody>
      </p:sp>
      <p:sp>
        <p:nvSpPr>
          <p:cNvPr id="8" name="TextBox 7"/>
          <p:cNvSpPr txBox="1"/>
          <p:nvPr/>
        </p:nvSpPr>
        <p:spPr>
          <a:xfrm>
            <a:off x="640080" y="2084831"/>
            <a:ext cx="2011680" cy="384048"/>
          </a:xfrm>
          <a:prstGeom prst="rect">
            <a:avLst/>
          </a:prstGeom>
          <a:noFill/>
        </p:spPr>
        <p:txBody>
          <a:bodyPr wrap="square" lIns="27432" tIns="27432" rIns="27432" bIns="27432" anchor="t">
            <a:spAutoFit/>
          </a:bodyPr>
          <a:lstStyle/>
          <a:p>
            <a:pPr algn="l">
              <a:lnSpc>
                <a:spcPct val="100000"/>
              </a:lnSpc>
            </a:pPr>
            <a:r>
              <a:rPr sz="1150" b="1">
                <a:solidFill>
                  <a:srgbClr val="028090"/>
                </a:solidFill>
                <a:latin typeface="Calibri" panose="020F0502020204030204"/>
              </a:rPr>
              <a:t>[2] Anthology Engage</a:t>
            </a:r>
            <a:endParaRPr sz="1150" b="1">
              <a:solidFill>
                <a:srgbClr val="028090"/>
              </a:solidFill>
              <a:latin typeface="Calibri" panose="020F0502020204030204"/>
            </a:endParaRPr>
          </a:p>
        </p:txBody>
      </p:sp>
      <p:sp>
        <p:nvSpPr>
          <p:cNvPr id="9" name="TextBox 8"/>
          <p:cNvSpPr txBox="1"/>
          <p:nvPr/>
        </p:nvSpPr>
        <p:spPr>
          <a:xfrm>
            <a:off x="2651760" y="2084831"/>
            <a:ext cx="5852160" cy="502920"/>
          </a:xfrm>
          <a:prstGeom prst="rect">
            <a:avLst/>
          </a:prstGeom>
          <a:noFill/>
        </p:spPr>
        <p:txBody>
          <a:bodyPr wrap="square" lIns="27432" tIns="27432" rIns="27432" bIns="27432" anchor="t">
            <a:spAutoFit/>
          </a:bodyPr>
          <a:lstStyle/>
          <a:p>
            <a:pPr algn="l">
              <a:lnSpc>
                <a:spcPct val="100000"/>
              </a:lnSpc>
            </a:pPr>
            <a:r>
              <a:rPr sz="1050" b="0">
                <a:solidFill>
                  <a:srgbClr val="24273A"/>
                </a:solidFill>
                <a:latin typeface="Calibri" panose="020F0502020204030204"/>
              </a:rPr>
              <a:t>Official Engage documentation: organizations, events, permissions and community structure</a:t>
            </a:r>
            <a:endParaRPr sz="1050" b="0">
              <a:solidFill>
                <a:srgbClr val="24273A"/>
              </a:solidFill>
              <a:latin typeface="Calibri" panose="020F0502020204030204"/>
            </a:endParaRPr>
          </a:p>
        </p:txBody>
      </p:sp>
      <p:sp>
        <p:nvSpPr>
          <p:cNvPr id="10" name="TextBox 9">
            <a:hlinkClick r:id="rId2"/>
          </p:cNvPr>
          <p:cNvSpPr txBox="1"/>
          <p:nvPr/>
        </p:nvSpPr>
        <p:spPr>
          <a:xfrm>
            <a:off x="8549640" y="2084831"/>
            <a:ext cx="2971800" cy="502920"/>
          </a:xfrm>
          <a:prstGeom prst="rect">
            <a:avLst/>
          </a:prstGeom>
          <a:noFill/>
        </p:spPr>
        <p:txBody>
          <a:bodyPr wrap="square" lIns="27432" tIns="27432" rIns="27432" bIns="27432" anchor="t">
            <a:spAutoFit/>
          </a:bodyPr>
          <a:lstStyle/>
          <a:p>
            <a:pPr algn="l">
              <a:lnSpc>
                <a:spcPct val="100000"/>
              </a:lnSpc>
            </a:pPr>
            <a:r>
              <a:rPr sz="920" b="0">
                <a:solidFill>
                  <a:srgbClr val="1E2761"/>
                </a:solidFill>
                <a:latin typeface="Calibri" panose="020F0502020204030204"/>
              </a:rPr>
              <a:t>help.anthology.com/engage</a:t>
            </a:r>
            <a:endParaRPr sz="920" b="0">
              <a:solidFill>
                <a:srgbClr val="1E2761"/>
              </a:solidFill>
              <a:latin typeface="Calibri" panose="020F0502020204030204"/>
            </a:endParaRPr>
          </a:p>
        </p:txBody>
      </p:sp>
      <p:sp>
        <p:nvSpPr>
          <p:cNvPr id="11" name="TextBox 10"/>
          <p:cNvSpPr txBox="1"/>
          <p:nvPr/>
        </p:nvSpPr>
        <p:spPr>
          <a:xfrm>
            <a:off x="640080" y="2660903"/>
            <a:ext cx="2011680" cy="384048"/>
          </a:xfrm>
          <a:prstGeom prst="rect">
            <a:avLst/>
          </a:prstGeom>
          <a:noFill/>
        </p:spPr>
        <p:txBody>
          <a:bodyPr wrap="square" lIns="27432" tIns="27432" rIns="27432" bIns="27432" anchor="t">
            <a:spAutoFit/>
          </a:bodyPr>
          <a:lstStyle/>
          <a:p>
            <a:pPr algn="l">
              <a:lnSpc>
                <a:spcPct val="100000"/>
              </a:lnSpc>
            </a:pPr>
            <a:r>
              <a:rPr sz="1150" b="1">
                <a:solidFill>
                  <a:srgbClr val="028090"/>
                </a:solidFill>
                <a:latin typeface="Calibri" panose="020F0502020204030204"/>
              </a:rPr>
              <a:t>[3] Suitable</a:t>
            </a:r>
            <a:endParaRPr sz="1150" b="1">
              <a:solidFill>
                <a:srgbClr val="028090"/>
              </a:solidFill>
              <a:latin typeface="Calibri" panose="020F0502020204030204"/>
            </a:endParaRPr>
          </a:p>
        </p:txBody>
      </p:sp>
      <p:sp>
        <p:nvSpPr>
          <p:cNvPr id="12" name="TextBox 11"/>
          <p:cNvSpPr txBox="1"/>
          <p:nvPr/>
        </p:nvSpPr>
        <p:spPr>
          <a:xfrm>
            <a:off x="2651760" y="2660903"/>
            <a:ext cx="5852160" cy="502920"/>
          </a:xfrm>
          <a:prstGeom prst="rect">
            <a:avLst/>
          </a:prstGeom>
          <a:noFill/>
        </p:spPr>
        <p:txBody>
          <a:bodyPr wrap="square" lIns="27432" tIns="27432" rIns="27432" bIns="27432" anchor="t">
            <a:spAutoFit/>
          </a:bodyPr>
          <a:lstStyle/>
          <a:p>
            <a:pPr algn="l">
              <a:lnSpc>
                <a:spcPct val="100000"/>
              </a:lnSpc>
            </a:pPr>
            <a:r>
              <a:rPr sz="1050" b="0">
                <a:solidFill>
                  <a:srgbClr val="24273A"/>
                </a:solidFill>
                <a:latin typeface="Calibri" panose="020F0502020204030204"/>
              </a:rPr>
              <a:t>Official student engagement platform and student-organization/event pages</a:t>
            </a:r>
            <a:endParaRPr sz="1050" b="0">
              <a:solidFill>
                <a:srgbClr val="24273A"/>
              </a:solidFill>
              <a:latin typeface="Calibri" panose="020F0502020204030204"/>
            </a:endParaRPr>
          </a:p>
        </p:txBody>
      </p:sp>
      <p:sp>
        <p:nvSpPr>
          <p:cNvPr id="13" name="TextBox 12">
            <a:hlinkClick r:id="rId3"/>
          </p:cNvPr>
          <p:cNvSpPr txBox="1"/>
          <p:nvPr/>
        </p:nvSpPr>
        <p:spPr>
          <a:xfrm>
            <a:off x="8549640" y="2660903"/>
            <a:ext cx="2971800" cy="502920"/>
          </a:xfrm>
          <a:prstGeom prst="rect">
            <a:avLst/>
          </a:prstGeom>
          <a:noFill/>
        </p:spPr>
        <p:txBody>
          <a:bodyPr wrap="square" lIns="27432" tIns="27432" rIns="27432" bIns="27432" anchor="t">
            <a:spAutoFit/>
          </a:bodyPr>
          <a:lstStyle/>
          <a:p>
            <a:pPr algn="l">
              <a:lnSpc>
                <a:spcPct val="100000"/>
              </a:lnSpc>
            </a:pPr>
            <a:r>
              <a:rPr sz="920" b="0">
                <a:solidFill>
                  <a:srgbClr val="1E2761"/>
                </a:solidFill>
                <a:latin typeface="Calibri" panose="020F0502020204030204"/>
              </a:rPr>
              <a:t>suitable.co</a:t>
            </a:r>
            <a:endParaRPr sz="920" b="0">
              <a:solidFill>
                <a:srgbClr val="1E2761"/>
              </a:solidFill>
              <a:latin typeface="Calibri" panose="020F0502020204030204"/>
            </a:endParaRPr>
          </a:p>
        </p:txBody>
      </p:sp>
      <p:sp>
        <p:nvSpPr>
          <p:cNvPr id="14" name="TextBox 13"/>
          <p:cNvSpPr txBox="1"/>
          <p:nvPr/>
        </p:nvSpPr>
        <p:spPr>
          <a:xfrm>
            <a:off x="640080" y="3236975"/>
            <a:ext cx="2011680" cy="384048"/>
          </a:xfrm>
          <a:prstGeom prst="rect">
            <a:avLst/>
          </a:prstGeom>
          <a:noFill/>
        </p:spPr>
        <p:txBody>
          <a:bodyPr wrap="square" lIns="27432" tIns="27432" rIns="27432" bIns="27432" anchor="t">
            <a:spAutoFit/>
          </a:bodyPr>
          <a:lstStyle/>
          <a:p>
            <a:pPr algn="l">
              <a:lnSpc>
                <a:spcPct val="100000"/>
              </a:lnSpc>
            </a:pPr>
            <a:r>
              <a:rPr sz="1150" b="1">
                <a:solidFill>
                  <a:srgbClr val="028090"/>
                </a:solidFill>
                <a:latin typeface="Calibri" panose="020F0502020204030204"/>
              </a:rPr>
              <a:t>[4] CampusNexus</a:t>
            </a:r>
            <a:endParaRPr sz="1150" b="1">
              <a:solidFill>
                <a:srgbClr val="028090"/>
              </a:solidFill>
              <a:latin typeface="Calibri" panose="020F0502020204030204"/>
            </a:endParaRPr>
          </a:p>
        </p:txBody>
      </p:sp>
      <p:sp>
        <p:nvSpPr>
          <p:cNvPr id="15" name="TextBox 14"/>
          <p:cNvSpPr txBox="1"/>
          <p:nvPr/>
        </p:nvSpPr>
        <p:spPr>
          <a:xfrm>
            <a:off x="2651760" y="3236975"/>
            <a:ext cx="5852160" cy="502920"/>
          </a:xfrm>
          <a:prstGeom prst="rect">
            <a:avLst/>
          </a:prstGeom>
          <a:noFill/>
        </p:spPr>
        <p:txBody>
          <a:bodyPr wrap="square" lIns="27432" tIns="27432" rIns="27432" bIns="27432" anchor="t">
            <a:spAutoFit/>
          </a:bodyPr>
          <a:lstStyle/>
          <a:p>
            <a:pPr algn="l">
              <a:lnSpc>
                <a:spcPct val="100000"/>
              </a:lnSpc>
            </a:pPr>
            <a:r>
              <a:rPr sz="1050" b="0">
                <a:solidFill>
                  <a:srgbClr val="24273A"/>
                </a:solidFill>
                <a:latin typeface="Calibri" panose="020F0502020204030204"/>
              </a:rPr>
              <a:t>2026 research paper: Spring Boot + React + PostgreSQL multi-college campus management</a:t>
            </a:r>
            <a:endParaRPr sz="1050" b="0">
              <a:solidFill>
                <a:srgbClr val="24273A"/>
              </a:solidFill>
              <a:latin typeface="Calibri" panose="020F0502020204030204"/>
            </a:endParaRPr>
          </a:p>
        </p:txBody>
      </p:sp>
      <p:sp>
        <p:nvSpPr>
          <p:cNvPr id="16" name="TextBox 15">
            <a:hlinkClick r:id="rId4"/>
          </p:cNvPr>
          <p:cNvSpPr txBox="1"/>
          <p:nvPr/>
        </p:nvSpPr>
        <p:spPr>
          <a:xfrm>
            <a:off x="8549640" y="3236975"/>
            <a:ext cx="2971800" cy="502920"/>
          </a:xfrm>
          <a:prstGeom prst="rect">
            <a:avLst/>
          </a:prstGeom>
          <a:noFill/>
        </p:spPr>
        <p:txBody>
          <a:bodyPr wrap="square" lIns="27432" tIns="27432" rIns="27432" bIns="27432" anchor="t">
            <a:spAutoFit/>
          </a:bodyPr>
          <a:lstStyle/>
          <a:p>
            <a:pPr algn="l">
              <a:lnSpc>
                <a:spcPct val="100000"/>
              </a:lnSpc>
            </a:pPr>
            <a:r>
              <a:rPr sz="920" b="0">
                <a:solidFill>
                  <a:srgbClr val="1E2761"/>
                </a:solidFill>
                <a:latin typeface="Calibri" panose="020F0502020204030204"/>
              </a:rPr>
              <a:t>ijraset.com</a:t>
            </a:r>
            <a:endParaRPr sz="920" b="0">
              <a:solidFill>
                <a:srgbClr val="1E2761"/>
              </a:solidFill>
              <a:latin typeface="Calibri" panose="020F0502020204030204"/>
            </a:endParaRPr>
          </a:p>
        </p:txBody>
      </p:sp>
      <p:sp>
        <p:nvSpPr>
          <p:cNvPr id="17" name="TextBox 16"/>
          <p:cNvSpPr txBox="1"/>
          <p:nvPr/>
        </p:nvSpPr>
        <p:spPr>
          <a:xfrm>
            <a:off x="640080" y="3813048"/>
            <a:ext cx="2011680" cy="384048"/>
          </a:xfrm>
          <a:prstGeom prst="rect">
            <a:avLst/>
          </a:prstGeom>
          <a:noFill/>
        </p:spPr>
        <p:txBody>
          <a:bodyPr wrap="square" lIns="27432" tIns="27432" rIns="27432" bIns="27432" anchor="t">
            <a:spAutoFit/>
          </a:bodyPr>
          <a:lstStyle/>
          <a:p>
            <a:pPr algn="l">
              <a:lnSpc>
                <a:spcPct val="100000"/>
              </a:lnSpc>
            </a:pPr>
            <a:r>
              <a:rPr sz="1150" b="1">
                <a:solidFill>
                  <a:srgbClr val="028090"/>
                </a:solidFill>
                <a:latin typeface="Calibri" panose="020F0502020204030204"/>
              </a:rPr>
              <a:t>[5] Smart Campus Utility Hub</a:t>
            </a:r>
            <a:endParaRPr sz="1150" b="1">
              <a:solidFill>
                <a:srgbClr val="028090"/>
              </a:solidFill>
              <a:latin typeface="Calibri" panose="020F0502020204030204"/>
            </a:endParaRPr>
          </a:p>
        </p:txBody>
      </p:sp>
      <p:sp>
        <p:nvSpPr>
          <p:cNvPr id="18" name="TextBox 17"/>
          <p:cNvSpPr txBox="1"/>
          <p:nvPr/>
        </p:nvSpPr>
        <p:spPr>
          <a:xfrm>
            <a:off x="2651760" y="3813048"/>
            <a:ext cx="5852160" cy="502920"/>
          </a:xfrm>
          <a:prstGeom prst="rect">
            <a:avLst/>
          </a:prstGeom>
          <a:noFill/>
        </p:spPr>
        <p:txBody>
          <a:bodyPr wrap="square" lIns="27432" tIns="27432" rIns="27432" bIns="27432" anchor="t">
            <a:spAutoFit/>
          </a:bodyPr>
          <a:lstStyle/>
          <a:p>
            <a:pPr algn="l">
              <a:lnSpc>
                <a:spcPct val="100000"/>
              </a:lnSpc>
            </a:pPr>
            <a:r>
              <a:rPr sz="1050" b="0">
                <a:solidFill>
                  <a:srgbClr val="24273A"/>
                </a:solidFill>
                <a:latin typeface="Calibri" panose="020F0502020204030204"/>
              </a:rPr>
              <a:t>Public GitHub project: React + Node.js/Express + PostgreSQL + JWT</a:t>
            </a:r>
            <a:endParaRPr sz="1050" b="0">
              <a:solidFill>
                <a:srgbClr val="24273A"/>
              </a:solidFill>
              <a:latin typeface="Calibri" panose="020F0502020204030204"/>
            </a:endParaRPr>
          </a:p>
        </p:txBody>
      </p:sp>
      <p:sp>
        <p:nvSpPr>
          <p:cNvPr id="19" name="TextBox 18">
            <a:hlinkClick r:id="rId5"/>
          </p:cNvPr>
          <p:cNvSpPr txBox="1"/>
          <p:nvPr/>
        </p:nvSpPr>
        <p:spPr>
          <a:xfrm>
            <a:off x="8549640" y="3813048"/>
            <a:ext cx="2971800" cy="502920"/>
          </a:xfrm>
          <a:prstGeom prst="rect">
            <a:avLst/>
          </a:prstGeom>
          <a:noFill/>
        </p:spPr>
        <p:txBody>
          <a:bodyPr wrap="square" lIns="27432" tIns="27432" rIns="27432" bIns="27432" anchor="t">
            <a:spAutoFit/>
          </a:bodyPr>
          <a:lstStyle/>
          <a:p>
            <a:pPr algn="l">
              <a:lnSpc>
                <a:spcPct val="100000"/>
              </a:lnSpc>
            </a:pPr>
            <a:r>
              <a:rPr sz="920" b="0">
                <a:solidFill>
                  <a:srgbClr val="1E2761"/>
                </a:solidFill>
                <a:latin typeface="Calibri" panose="020F0502020204030204"/>
              </a:rPr>
              <a:t>github.com/KanavCode/smart-campus-utility-hub</a:t>
            </a:r>
            <a:endParaRPr sz="920" b="0">
              <a:solidFill>
                <a:srgbClr val="1E2761"/>
              </a:solidFill>
              <a:latin typeface="Calibri" panose="020F0502020204030204"/>
            </a:endParaRPr>
          </a:p>
        </p:txBody>
      </p:sp>
      <p:sp>
        <p:nvSpPr>
          <p:cNvPr id="20" name="TextBox 19"/>
          <p:cNvSpPr txBox="1"/>
          <p:nvPr/>
        </p:nvSpPr>
        <p:spPr>
          <a:xfrm>
            <a:off x="640080" y="4389120"/>
            <a:ext cx="2011680" cy="384048"/>
          </a:xfrm>
          <a:prstGeom prst="rect">
            <a:avLst/>
          </a:prstGeom>
          <a:noFill/>
        </p:spPr>
        <p:txBody>
          <a:bodyPr wrap="square" lIns="27432" tIns="27432" rIns="27432" bIns="27432" anchor="t">
            <a:spAutoFit/>
          </a:bodyPr>
          <a:lstStyle/>
          <a:p>
            <a:pPr algn="l">
              <a:lnSpc>
                <a:spcPct val="100000"/>
              </a:lnSpc>
            </a:pPr>
            <a:r>
              <a:rPr sz="1150" b="1">
                <a:solidFill>
                  <a:srgbClr val="028090"/>
                </a:solidFill>
                <a:latin typeface="Calibri" panose="020F0502020204030204"/>
              </a:rPr>
              <a:t>[6] Campus Lost &amp; Found</a:t>
            </a:r>
            <a:endParaRPr sz="1150" b="1">
              <a:solidFill>
                <a:srgbClr val="028090"/>
              </a:solidFill>
              <a:latin typeface="Calibri" panose="020F0502020204030204"/>
            </a:endParaRPr>
          </a:p>
        </p:txBody>
      </p:sp>
      <p:sp>
        <p:nvSpPr>
          <p:cNvPr id="21" name="TextBox 20"/>
          <p:cNvSpPr txBox="1"/>
          <p:nvPr/>
        </p:nvSpPr>
        <p:spPr>
          <a:xfrm>
            <a:off x="2651760" y="4389120"/>
            <a:ext cx="5852160" cy="502920"/>
          </a:xfrm>
          <a:prstGeom prst="rect">
            <a:avLst/>
          </a:prstGeom>
          <a:noFill/>
        </p:spPr>
        <p:txBody>
          <a:bodyPr wrap="square" lIns="27432" tIns="27432" rIns="27432" bIns="27432" anchor="t">
            <a:spAutoFit/>
          </a:bodyPr>
          <a:lstStyle/>
          <a:p>
            <a:pPr algn="l">
              <a:lnSpc>
                <a:spcPct val="100000"/>
              </a:lnSpc>
            </a:pPr>
            <a:r>
              <a:rPr sz="1050" b="0">
                <a:solidFill>
                  <a:srgbClr val="24273A"/>
                </a:solidFill>
                <a:latin typeface="Calibri" panose="020F0502020204030204"/>
              </a:rPr>
              <a:t>Public GitHub DBMS project: React + Node.js/Express + MySQL; triggers/procedures/functions</a:t>
            </a:r>
            <a:endParaRPr sz="1050" b="0">
              <a:solidFill>
                <a:srgbClr val="24273A"/>
              </a:solidFill>
              <a:latin typeface="Calibri" panose="020F0502020204030204"/>
            </a:endParaRPr>
          </a:p>
        </p:txBody>
      </p:sp>
      <p:sp>
        <p:nvSpPr>
          <p:cNvPr id="22" name="TextBox 21">
            <a:hlinkClick r:id="rId6"/>
          </p:cNvPr>
          <p:cNvSpPr txBox="1"/>
          <p:nvPr/>
        </p:nvSpPr>
        <p:spPr>
          <a:xfrm>
            <a:off x="8549640" y="4389120"/>
            <a:ext cx="2971800" cy="502920"/>
          </a:xfrm>
          <a:prstGeom prst="rect">
            <a:avLst/>
          </a:prstGeom>
          <a:noFill/>
        </p:spPr>
        <p:txBody>
          <a:bodyPr wrap="square" lIns="27432" tIns="27432" rIns="27432" bIns="27432" anchor="t">
            <a:spAutoFit/>
          </a:bodyPr>
          <a:lstStyle/>
          <a:p>
            <a:pPr algn="l">
              <a:lnSpc>
                <a:spcPct val="100000"/>
              </a:lnSpc>
            </a:pPr>
            <a:r>
              <a:rPr sz="920" b="0">
                <a:solidFill>
                  <a:srgbClr val="1E2761"/>
                </a:solidFill>
                <a:latin typeface="Calibri" panose="020F0502020204030204"/>
              </a:rPr>
              <a:t>github.com/RookieDevp24/Campus-Lost-and-Found-Management-System</a:t>
            </a:r>
            <a:endParaRPr sz="920" b="0">
              <a:solidFill>
                <a:srgbClr val="1E2761"/>
              </a:solidFill>
              <a:latin typeface="Calibri" panose="020F0502020204030204"/>
            </a:endParaRPr>
          </a:p>
        </p:txBody>
      </p:sp>
      <p:sp>
        <p:nvSpPr>
          <p:cNvPr id="23" name="TextBox 22"/>
          <p:cNvSpPr txBox="1"/>
          <p:nvPr/>
        </p:nvSpPr>
        <p:spPr>
          <a:xfrm>
            <a:off x="640080" y="4965192"/>
            <a:ext cx="2011680" cy="384048"/>
          </a:xfrm>
          <a:prstGeom prst="rect">
            <a:avLst/>
          </a:prstGeom>
          <a:noFill/>
        </p:spPr>
        <p:txBody>
          <a:bodyPr wrap="square" lIns="27432" tIns="27432" rIns="27432" bIns="27432" anchor="t">
            <a:spAutoFit/>
          </a:bodyPr>
          <a:lstStyle/>
          <a:p>
            <a:pPr algn="l">
              <a:lnSpc>
                <a:spcPct val="100000"/>
              </a:lnSpc>
            </a:pPr>
            <a:r>
              <a:rPr sz="1150" b="1">
                <a:solidFill>
                  <a:srgbClr val="028090"/>
                </a:solidFill>
                <a:latin typeface="Calibri" panose="020F0502020204030204"/>
              </a:rPr>
              <a:t>[7] Students' Grievance Management System</a:t>
            </a:r>
            <a:endParaRPr sz="1150" b="1">
              <a:solidFill>
                <a:srgbClr val="028090"/>
              </a:solidFill>
              <a:latin typeface="Calibri" panose="020F0502020204030204"/>
            </a:endParaRPr>
          </a:p>
        </p:txBody>
      </p:sp>
      <p:sp>
        <p:nvSpPr>
          <p:cNvPr id="24" name="TextBox 23"/>
          <p:cNvSpPr txBox="1"/>
          <p:nvPr/>
        </p:nvSpPr>
        <p:spPr>
          <a:xfrm>
            <a:off x="2651760" y="4965192"/>
            <a:ext cx="5852160" cy="502920"/>
          </a:xfrm>
          <a:prstGeom prst="rect">
            <a:avLst/>
          </a:prstGeom>
          <a:noFill/>
        </p:spPr>
        <p:txBody>
          <a:bodyPr wrap="square" lIns="27432" tIns="27432" rIns="27432" bIns="27432" anchor="t">
            <a:spAutoFit/>
          </a:bodyPr>
          <a:lstStyle/>
          <a:p>
            <a:pPr algn="l">
              <a:lnSpc>
                <a:spcPct val="100000"/>
              </a:lnSpc>
            </a:pPr>
            <a:r>
              <a:rPr sz="1050" b="0">
                <a:solidFill>
                  <a:srgbClr val="24273A"/>
                </a:solidFill>
                <a:latin typeface="Calibri" panose="020F0502020204030204"/>
              </a:rPr>
              <a:t>Public GitHub implementation: centralized student grievance workflow using PHP + MySQL</a:t>
            </a:r>
            <a:endParaRPr sz="1050" b="0">
              <a:solidFill>
                <a:srgbClr val="24273A"/>
              </a:solidFill>
              <a:latin typeface="Calibri" panose="020F0502020204030204"/>
            </a:endParaRPr>
          </a:p>
        </p:txBody>
      </p:sp>
      <p:sp>
        <p:nvSpPr>
          <p:cNvPr id="25" name="TextBox 24">
            <a:hlinkClick r:id="rId7"/>
          </p:cNvPr>
          <p:cNvSpPr txBox="1"/>
          <p:nvPr/>
        </p:nvSpPr>
        <p:spPr>
          <a:xfrm>
            <a:off x="8549640" y="4965192"/>
            <a:ext cx="2971800" cy="502920"/>
          </a:xfrm>
          <a:prstGeom prst="rect">
            <a:avLst/>
          </a:prstGeom>
          <a:noFill/>
        </p:spPr>
        <p:txBody>
          <a:bodyPr wrap="square" lIns="27432" tIns="27432" rIns="27432" bIns="27432" anchor="t">
            <a:spAutoFit/>
          </a:bodyPr>
          <a:lstStyle/>
          <a:p>
            <a:pPr algn="l">
              <a:lnSpc>
                <a:spcPct val="100000"/>
              </a:lnSpc>
            </a:pPr>
            <a:r>
              <a:rPr sz="920" b="0">
                <a:solidFill>
                  <a:srgbClr val="1E2761"/>
                </a:solidFill>
                <a:latin typeface="Calibri" panose="020F0502020204030204"/>
              </a:rPr>
              <a:t>github.com/virajbhutada/students-grievance-management-system</a:t>
            </a:r>
            <a:endParaRPr sz="920" b="0">
              <a:solidFill>
                <a:srgbClr val="1E2761"/>
              </a:solidFill>
              <a:latin typeface="Calibri" panose="020F0502020204030204"/>
            </a:endParaRPr>
          </a:p>
        </p:txBody>
      </p:sp>
      <p:sp>
        <p:nvSpPr>
          <p:cNvPr id="26" name="TextBox 25"/>
          <p:cNvSpPr txBox="1"/>
          <p:nvPr/>
        </p:nvSpPr>
        <p:spPr>
          <a:xfrm>
            <a:off x="640080" y="5541264"/>
            <a:ext cx="2011680" cy="384048"/>
          </a:xfrm>
          <a:prstGeom prst="rect">
            <a:avLst/>
          </a:prstGeom>
          <a:noFill/>
        </p:spPr>
        <p:txBody>
          <a:bodyPr wrap="square" lIns="27432" tIns="27432" rIns="27432" bIns="27432" anchor="t">
            <a:spAutoFit/>
          </a:bodyPr>
          <a:lstStyle/>
          <a:p>
            <a:pPr algn="l">
              <a:lnSpc>
                <a:spcPct val="100000"/>
              </a:lnSpc>
            </a:pPr>
            <a:r>
              <a:rPr sz="1150" b="1">
                <a:solidFill>
                  <a:srgbClr val="028090"/>
                </a:solidFill>
                <a:latin typeface="Calibri" panose="020F0502020204030204"/>
              </a:rPr>
              <a:t>Course material</a:t>
            </a:r>
            <a:endParaRPr sz="1150" b="1">
              <a:solidFill>
                <a:srgbClr val="028090"/>
              </a:solidFill>
              <a:latin typeface="Calibri" panose="020F0502020204030204"/>
            </a:endParaRPr>
          </a:p>
        </p:txBody>
      </p:sp>
      <p:sp>
        <p:nvSpPr>
          <p:cNvPr id="27" name="TextBox 26"/>
          <p:cNvSpPr txBox="1"/>
          <p:nvPr/>
        </p:nvSpPr>
        <p:spPr>
          <a:xfrm>
            <a:off x="2651760" y="5541264"/>
            <a:ext cx="5852160" cy="502920"/>
          </a:xfrm>
          <a:prstGeom prst="rect">
            <a:avLst/>
          </a:prstGeom>
          <a:noFill/>
        </p:spPr>
        <p:txBody>
          <a:bodyPr wrap="square" lIns="27432" tIns="27432" rIns="27432" bIns="27432" anchor="t">
            <a:spAutoFit/>
          </a:bodyPr>
          <a:lstStyle/>
          <a:p>
            <a:pPr algn="l">
              <a:lnSpc>
                <a:spcPct val="100000"/>
              </a:lnSpc>
            </a:pPr>
            <a:r>
              <a:rPr sz="1050" b="0">
                <a:solidFill>
                  <a:srgbClr val="24273A"/>
                </a:solidFill>
                <a:latin typeface="Calibri" panose="020F0502020204030204"/>
              </a:rPr>
              <a:t>Literature Review for Database Engineering Projects: matrix, gap analysis, critical review, proposed approach</a:t>
            </a:r>
            <a:endParaRPr sz="1050" b="0">
              <a:solidFill>
                <a:srgbClr val="24273A"/>
              </a:solidFill>
              <a:latin typeface="Calibri" panose="020F0502020204030204"/>
            </a:endParaRPr>
          </a:p>
        </p:txBody>
      </p:sp>
      <p:sp>
        <p:nvSpPr>
          <p:cNvPr id="28" name="TextBox 27"/>
          <p:cNvSpPr txBox="1"/>
          <p:nvPr/>
        </p:nvSpPr>
        <p:spPr>
          <a:xfrm>
            <a:off x="8549640" y="5541264"/>
            <a:ext cx="2971800" cy="502920"/>
          </a:xfrm>
          <a:prstGeom prst="rect">
            <a:avLst/>
          </a:prstGeom>
          <a:noFill/>
        </p:spPr>
        <p:txBody>
          <a:bodyPr wrap="square" lIns="27432" tIns="27432" rIns="27432" bIns="27432" anchor="t">
            <a:spAutoFit/>
          </a:bodyPr>
          <a:lstStyle/>
          <a:p>
            <a:pPr algn="l">
              <a:lnSpc>
                <a:spcPct val="100000"/>
              </a:lnSpc>
            </a:pPr>
            <a:r>
              <a:rPr sz="920" b="0">
                <a:solidFill>
                  <a:srgbClr val="1E2761"/>
                </a:solidFill>
                <a:latin typeface="Calibri" panose="020F0502020204030204"/>
              </a:rPr>
              <a:t>Supplied course document + sample PPT</a:t>
            </a:r>
            <a:endParaRPr sz="920" b="0">
              <a:solidFill>
                <a:srgbClr val="1E2761"/>
              </a:solidFill>
              <a:latin typeface="Calibri" panose="020F0502020204030204"/>
            </a:endParaRPr>
          </a:p>
        </p:txBody>
      </p:sp>
      <p:sp>
        <p:nvSpPr>
          <p:cNvPr id="29" name="TextBox 28"/>
          <p:cNvSpPr txBox="1"/>
          <p:nvPr/>
        </p:nvSpPr>
        <p:spPr>
          <a:xfrm>
            <a:off x="640080" y="6199632"/>
            <a:ext cx="10881360" cy="292608"/>
          </a:xfrm>
          <a:prstGeom prst="rect">
            <a:avLst/>
          </a:prstGeom>
          <a:noFill/>
        </p:spPr>
        <p:txBody>
          <a:bodyPr wrap="square" lIns="27432" tIns="27432" rIns="27432" bIns="27432" anchor="t">
            <a:spAutoFit/>
          </a:bodyPr>
          <a:lstStyle/>
          <a:p>
            <a:pPr algn="ctr">
              <a:lnSpc>
                <a:spcPct val="100000"/>
              </a:lnSpc>
            </a:pPr>
            <a:r>
              <a:rPr sz="1020" b="1">
                <a:solidFill>
                  <a:srgbClr val="1E2761"/>
                </a:solidFill>
                <a:latin typeface="Calibri" panose="020F0502020204030204"/>
              </a:rPr>
              <a:t>Important: where a commercial platform did not publicly disclose its backend/database stack, the presentation explicitly says so instead of guessing.</a:t>
            </a:r>
            <a:endParaRPr sz="1020" b="1">
              <a:solidFill>
                <a:srgbClr val="1E2761"/>
              </a:solidFill>
              <a:latin typeface="Calibri" panose="020F0502020204030204"/>
            </a:endParaRPr>
          </a:p>
        </p:txBody>
      </p:sp>
      <p:sp>
        <p:nvSpPr>
          <p:cNvPr id="30" name="Rectangle 29"/>
          <p:cNvSpPr/>
          <p:nvPr/>
        </p:nvSpPr>
        <p:spPr>
          <a:xfrm>
            <a:off x="548640" y="6473952"/>
            <a:ext cx="11064240" cy="10972"/>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6510528"/>
            <a:ext cx="10881360" cy="201168"/>
          </a:xfrm>
          <a:prstGeom prst="rect">
            <a:avLst/>
          </a:prstGeom>
          <a:noFill/>
        </p:spPr>
        <p:txBody>
          <a:bodyPr wrap="square" lIns="27432" tIns="27432" rIns="27432" bIns="27432" anchor="t">
            <a:spAutoFit/>
          </a:bodyPr>
          <a:lstStyle/>
          <a:p>
            <a:pPr algn="l">
              <a:lnSpc>
                <a:spcPct val="100000"/>
              </a:lnSpc>
            </a:pPr>
            <a:r>
              <a:rPr sz="750" b="0">
                <a:solidFill>
                  <a:srgbClr val="646978"/>
                </a:solidFill>
                <a:latin typeface="Calibri" panose="020F0502020204030204"/>
              </a:rPr>
              <a:t>Research accessed for Review 2; commercial feature descriptions were taken from official vendor documentation.</a:t>
            </a:r>
            <a:endParaRPr sz="750" b="0">
              <a:solidFill>
                <a:srgbClr val="646978"/>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14534</Words>
  <Application>WPS Presentation</Application>
  <PresentationFormat>On-screen Show (4:3)</PresentationFormat>
  <Paragraphs>424</Paragraphs>
  <Slides>13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SimSun</vt:lpstr>
      <vt:lpstr>Wingdings</vt:lpstr>
      <vt:lpstr>Arial</vt:lpstr>
      <vt:lpstr>Calibri</vt:lpstr>
      <vt:lpstr>Cambria</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KEERTHANA VITTAL</cp:lastModifiedBy>
  <cp:revision>2</cp:revision>
  <dcterms:created xsi:type="dcterms:W3CDTF">2013-01-27T09:14:00Z</dcterms:created>
  <dcterms:modified xsi:type="dcterms:W3CDTF">2026-08-22T08:17:21Z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99A079E4E7CB46DCB572AA0387449780_12</vt:lpwstr>
  </property>
  <property fmtid="{D5CDD505-2E9C-101B-9397-08002B2CF9AE}" pid="3" name="KSOProductBuildVer">
    <vt:lpwstr>1033-12.1.0.28032</vt:lpwstr>
  </property>
</Properties>
</file>